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875" r:id="rId5"/>
    <p:sldId id="878" r:id="rId9"/>
    <p:sldId id="879" r:id="rId8"/>
    <p:sldId id="880" r:id="rId7"/>
    <p:sldId id="881" r:id="rId6"/>
    <p:sldId id="882" r:id="rId16"/>
    <p:sldId id="883" r:id="rId17"/>
    <p:sldId id="884" r:id="rId18"/>
    <p:sldId id="885" r:id="rId19"/>
    <p:sldId id="886" r:id="rId20"/>
    <p:sldId id="887" r:id="rId21"/>
    <p:sldId id="888" r:id="rId22"/>
    <p:sldId id="877" r:id="rId10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8FCE"/>
    <a:srgbClr val="FFFFFF"/>
    <a:srgbClr val="004B99"/>
    <a:srgbClr val="7F7F7F"/>
    <a:srgbClr val="F68F1C"/>
    <a:srgbClr val="91B4DE"/>
    <a:srgbClr val="F15E22"/>
    <a:srgbClr val="00377C"/>
    <a:srgbClr val="595959"/>
    <a:srgbClr val="EA4C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60" autoAdjust="0"/>
    <p:restoredTop sz="96318" autoAdjust="0"/>
  </p:normalViewPr>
  <p:slideViewPr>
    <p:cSldViewPr snapToGrid="0">
      <p:cViewPr varScale="1">
        <p:scale>
          <a:sx n="76" d="100"/>
          <a:sy n="76" d="100"/>
        </p:scale>
        <p:origin x="1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3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34976"/>
                </a:solidFill>
              </a:rPr>
              <a:t>Kim-Wright 10Y TP 相對 2025 年底的變動（bp）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Kim-Wright 10Y TP（相對 2025 年底，bp）</c:v>
                </c:pt>
              </c:strCache>
            </c:strRef>
          </c:tx>
          <c:spPr>
            <a:ln w="31750">
              <a:solidFill>
                <a:srgbClr val="0065B2"/>
              </a:solidFill>
            </a:ln>
          </c:spPr>
          <c:marker>
            <c:symbol val="circle"/>
            <c:size val="7"/>
            <c:spPr>
              <a:solidFill>
                <a:srgbClr val="0065B2"/>
              </a:solidFill>
              <a:ln>
                <a:solidFill>
                  <a:srgbClr val="0065B2"/>
                </a:solidFill>
              </a:ln>
            </c:spPr>
          </c:marker>
          <c:dLbls>
            <c:dLbl>
              <c:idx val="8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234976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234976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2025/12</c:v>
                </c:pt>
                <c:pt idx="1">
                  <c:v>1月</c:v>
                </c:pt>
                <c:pt idx="2">
                  <c:v>2月</c:v>
                </c:pt>
                <c:pt idx="3">
                  <c:v>3月</c:v>
                </c:pt>
                <c:pt idx="4">
                  <c:v>4月</c:v>
                </c:pt>
                <c:pt idx="5">
                  <c:v>5月</c:v>
                </c:pt>
                <c:pt idx="6">
                  <c:v>6月</c:v>
                </c:pt>
                <c:pt idx="7">
                  <c:v>7月</c:v>
                </c:pt>
                <c:pt idx="8">
                  <c:v>8月</c:v>
                </c:pt>
                <c:pt idx="9">
                  <c:v>9/25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4.4</c:v>
                </c:pt>
                <c:pt idx="2">
                  <c:v>-10.8</c:v>
                </c:pt>
                <c:pt idx="3">
                  <c:v>8.3</c:v>
                </c:pt>
                <c:pt idx="4">
                  <c:v>13.3</c:v>
                </c:pt>
                <c:pt idx="5">
                  <c:v>18.3</c:v>
                </c:pt>
                <c:pt idx="6">
                  <c:v>12.6</c:v>
                </c:pt>
                <c:pt idx="7">
                  <c:v>29.7</c:v>
                </c:pt>
                <c:pt idx="8">
                  <c:v>30.9</c:v>
                </c:pt>
                <c:pt idx="9">
                  <c:v>44.9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.0"/>
          <c:min val="-2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34976"/>
                </a:solidFill>
              </a:rPr>
              <a:t>DKW 10Y 各成分變動（bp）：7 月以來實質 TP 大於預期實質短率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年底 → 8/31</c:v>
                </c:pt>
              </c:strCache>
            </c:strRef>
          </c:tx>
          <c:spPr>
            <a:solidFill>
              <a:srgbClr val="234976"/>
            </a:solidFill>
          </c:spPr>
          <c:cat>
            <c:strRef>
              <c:f>Sheet1!$A$2:$A$5</c:f>
              <c:strCache>
                <c:ptCount val="4"/>
                <c:pt idx="0">
                  <c:v>預期實質短率</c:v>
                </c:pt>
                <c:pt idx="1">
                  <c:v>實質 TP</c:v>
                </c:pt>
                <c:pt idx="2">
                  <c:v>預期通膨</c:v>
                </c:pt>
                <c:pt idx="3">
                  <c:v>通膨風險溢酬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25.4</c:v>
                </c:pt>
                <c:pt idx="1">
                  <c:v>16.2</c:v>
                </c:pt>
                <c:pt idx="2">
                  <c:v>12.0</c:v>
                </c:pt>
                <c:pt idx="3">
                  <c:v>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6/30 → 8/31</c:v>
                </c:pt>
              </c:strCache>
            </c:strRef>
          </c:tx>
          <c:spPr>
            <a:solidFill>
              <a:srgbClr val="0065B2"/>
            </a:solidFill>
          </c:spPr>
          <c:cat>
            <c:strRef>
              <c:f>Sheet1!$A$2:$A$5</c:f>
              <c:strCache>
                <c:ptCount val="4"/>
                <c:pt idx="0">
                  <c:v>預期實質短率</c:v>
                </c:pt>
                <c:pt idx="1">
                  <c:v>實質 TP</c:v>
                </c:pt>
                <c:pt idx="2">
                  <c:v>預期通膨</c:v>
                </c:pt>
                <c:pt idx="3">
                  <c:v>通膨風險溢酬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10.4</c:v>
                </c:pt>
                <c:pt idx="1">
                  <c:v>12.6</c:v>
                </c:pt>
                <c:pt idx="2">
                  <c:v>7.9</c:v>
                </c:pt>
                <c:pt idx="3">
                  <c:v>3.0</c:v>
                </c:pt>
              </c:numCache>
            </c:numRef>
          </c:val>
        </c:ser>
        <c:dLbls>
          <c:numFmt formatCode="+0.0" sourceLinked="0"/>
          <c:txPr>
            <a:bodyPr/>
            <a:lstStyle/>
            <a:p>
              <a:pPr>
                <a:defRPr sz="1200" b="1">
                  <a:solidFill>
                    <a:srgbClr val="23497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34976"/>
                </a:solidFill>
              </a:rPr>
              <a:t>Hyperscaler capex（十億美元）與年增率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Hyperscaler capex（十億美元）</c:v>
                </c:pt>
              </c:strCache>
            </c:strRef>
          </c:tx>
          <c:spPr>
            <a:solidFill>
              <a:srgbClr val="8C96A0"/>
            </a:solidFill>
          </c:spPr>
          <c:dPt>
            <c:idx val="1"/>
            <c:spPr>
              <a:solidFill>
                <a:srgbClr val="0065B2"/>
              </a:solidFill>
            </c:spPr>
          </c:dPt>
          <c:dPt>
            <c:idx val="2"/>
            <c:spPr>
              <a:solidFill>
                <a:srgbClr val="0065B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4976"/>
                        </a:solidFill>
                      </a:rPr>
                      <a:t>466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4976"/>
                        </a:solidFill>
                      </a:rPr>
                      <a:t>917（+99%）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4976"/>
                        </a:solidFill>
                      </a:rPr>
                      <a:t>1,467（+60%）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4976"/>
                        </a:solidFill>
                      </a:rPr>
                      <a:t>1,636（+12%）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466</c:v>
                </c:pt>
                <c:pt idx="1">
                  <c:v>917</c:v>
                </c:pt>
                <c:pt idx="2">
                  <c:v>1467</c:v>
                </c:pt>
                <c:pt idx="3">
                  <c:v>1636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34976"/>
                </a:solidFill>
              </a:rPr>
              <a:t>9 月至 9/16 報酬（%）：只有 Mag 7 上漲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9 月至 9/16 報酬（%）</c:v>
                </c:pt>
              </c:strCache>
            </c:strRef>
          </c:tx>
          <c:spPr>
            <a:solidFill>
              <a:srgbClr val="8C96A0"/>
            </a:solidFill>
          </c:spPr>
          <c:invertIfNegative val="0"/>
          <c:dPt>
            <c:idx val="5"/>
            <c:spPr>
              <a:solidFill>
                <a:srgbClr val="0065B2"/>
              </a:solidFill>
            </c:spPr>
          </c:dPt>
          <c:cat>
            <c:strRef>
              <c:f>Sheet1!$A$2:$A$7</c:f>
              <c:strCache>
                <c:ptCount val="6"/>
                <c:pt idx="0">
                  <c:v>SOX</c:v>
                </c:pt>
                <c:pt idx="1">
                  <c:v>Russell 2000</c:v>
                </c:pt>
                <c:pt idx="2">
                  <c:v>S&amp;P 500 等權重</c:v>
                </c:pt>
                <c:pt idx="3">
                  <c:v>Nasdaq 100</c:v>
                </c:pt>
                <c:pt idx="4">
                  <c:v>S&amp;P 500</c:v>
                </c:pt>
                <c:pt idx="5">
                  <c:v>Mag 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-3.1</c:v>
                </c:pt>
                <c:pt idx="1">
                  <c:v>-2.9</c:v>
                </c:pt>
                <c:pt idx="2">
                  <c:v>-2.6</c:v>
                </c:pt>
                <c:pt idx="3">
                  <c:v>-1.8</c:v>
                </c:pt>
                <c:pt idx="4">
                  <c:v>-1.3</c:v>
                </c:pt>
                <c:pt idx="5">
                  <c:v>1.3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sz="1200" b="1">
                  <a:solidFill>
                    <a:srgbClr val="23497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0"/>
          <c:min val="-4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95959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4" y="4"/>
            <a:ext cx="2949787" cy="498693"/>
          </a:xfrm>
          <a:prstGeom prst="rect">
            <a:avLst/>
          </a:prstGeom>
        </p:spPr>
        <p:txBody>
          <a:bodyPr vert="horz" lIns="91415" tIns="45704" rIns="91415" bIns="45704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42" y="4"/>
            <a:ext cx="2949787" cy="498693"/>
          </a:xfrm>
          <a:prstGeom prst="rect">
            <a:avLst/>
          </a:prstGeom>
        </p:spPr>
        <p:txBody>
          <a:bodyPr vert="horz" lIns="91415" tIns="45704" rIns="91415" bIns="45704" rtlCol="0"/>
          <a:lstStyle>
            <a:lvl1pPr algn="r">
              <a:defRPr sz="1200"/>
            </a:lvl1pPr>
          </a:lstStyle>
          <a:p>
            <a:fld id="{C5105F31-D6E8-48E1-BBA8-A78D94CD499A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65825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5" tIns="45704" rIns="91415" bIns="4570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83307"/>
            <a:ext cx="5445760" cy="3913614"/>
          </a:xfrm>
          <a:prstGeom prst="rect">
            <a:avLst/>
          </a:prstGeom>
        </p:spPr>
        <p:txBody>
          <a:bodyPr vert="horz" lIns="91415" tIns="45704" rIns="91415" bIns="45704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4" y="9440651"/>
            <a:ext cx="2949787" cy="498692"/>
          </a:xfrm>
          <a:prstGeom prst="rect">
            <a:avLst/>
          </a:prstGeom>
        </p:spPr>
        <p:txBody>
          <a:bodyPr vert="horz" lIns="91415" tIns="45704" rIns="91415" bIns="45704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42" y="9440651"/>
            <a:ext cx="2949787" cy="498692"/>
          </a:xfrm>
          <a:prstGeom prst="rect">
            <a:avLst/>
          </a:prstGeom>
        </p:spPr>
        <p:txBody>
          <a:bodyPr vert="horz" lIns="91415" tIns="45704" rIns="91415" bIns="45704" rtlCol="0" anchor="b"/>
          <a:lstStyle>
            <a:lvl1pPr algn="r">
              <a:defRPr sz="1200"/>
            </a:lvl1pPr>
          </a:lstStyle>
          <a:p>
            <a:fld id="{A7042647-0118-4519-B1FD-F957CD7154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2410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核心訊息：延伸原文的預期 vs TP 框架。TP 從 7 月起持續上升（Kim-Wright 今年以來約 +45 bp），但有序緩升不會推高 IV，失序才會。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 與 Kim-Wright 對 TP 份量差很多；兩者都顯示 7 月起 TP 持續上升。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DKW 把名目殖利率拆成四塊。實質部分（預期實質短率＋實質 TP）約 +42 bp，其中實質 TP 約 16 bp。進一步拆開實質利率，能看出期限溢酬的份量。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(一般內外部使用)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60A8F5F-83B1-BC42-302A-BEBBDE3575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1195" y="3722655"/>
            <a:ext cx="8618046" cy="792089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/>
              <a:t>Enter your subtitle here</a:t>
            </a:r>
            <a:r>
              <a:rPr lang="en-US" altLang="zh-TW"/>
              <a:t>/</a:t>
            </a:r>
            <a:r>
              <a:rPr lang="zh-TW" altLang="en-US"/>
              <a:t>副標題</a:t>
            </a:r>
            <a:endParaRPr lang="en-GB"/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5E29903C-3A77-04D4-EB8D-620930D430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1195" y="1809825"/>
            <a:ext cx="8618046" cy="1836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ct val="120000"/>
              </a:lnSpc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en-US"/>
              <a:t>Enter your title here</a:t>
            </a:r>
            <a:r>
              <a:rPr lang="en-US" altLang="zh-TW"/>
              <a:t>/</a:t>
            </a:r>
            <a:r>
              <a:rPr lang="zh-TW" altLang="en-US"/>
              <a:t>標題</a:t>
            </a:r>
            <a:endParaRPr lang="en-GB"/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16339BFE-A765-8F29-853A-156DD08A01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1084" y="5643096"/>
            <a:ext cx="2098266" cy="43201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/>
              <a:t>yyyy.mm.dd</a:t>
            </a:r>
            <a:endParaRPr lang="en-GB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3798FD-4237-3530-57E2-BF152C1FB444}"/>
              </a:ext>
            </a:extLst>
          </p:cNvPr>
          <p:cNvSpPr/>
          <p:nvPr/>
        </p:nvSpPr>
        <p:spPr bwMode="auto">
          <a:xfrm>
            <a:off x="1616149" y="1360967"/>
            <a:ext cx="8952614" cy="4890977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200" b="1" i="0" u="none" strike="noStrike" cap="none" normalizeH="0" baseline="0" err="1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58110868-E592-43CE-C4AB-DD61449BC2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1194" y="4586751"/>
            <a:ext cx="8618046" cy="97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Business Division</a:t>
            </a:r>
            <a:r>
              <a:rPr lang="zh-TW" altLang="en-US"/>
              <a:t> </a:t>
            </a:r>
            <a:r>
              <a:rPr lang="en-US"/>
              <a:t>/</a:t>
            </a:r>
            <a:r>
              <a:rPr lang="zh-TW" altLang="en-US"/>
              <a:t> </a:t>
            </a:r>
            <a:r>
              <a:rPr lang="en-US"/>
              <a:t>Department</a:t>
            </a:r>
          </a:p>
          <a:p>
            <a:pPr lvl="0"/>
            <a:r>
              <a:rPr lang="en-US"/>
              <a:t>Name / Presenter</a:t>
            </a:r>
            <a:br>
              <a:rPr lang="en-US"/>
            </a:br>
            <a:r>
              <a:rPr lang="en-US"/>
              <a:t>Company Name</a:t>
            </a:r>
            <a:endParaRPr lang="en-GB"/>
          </a:p>
        </p:txBody>
      </p:sp>
      <p:pic>
        <p:nvPicPr>
          <p:cNvPr id="3" name="圖片 2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A7986CD2-F276-6498-491B-323EEFD6B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6" y="359440"/>
            <a:ext cx="3940079" cy="9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7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對外使用）封面_高階主管/公司介紹使用_藍色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 descr="一張含有 戶外, 高層建築物, 天空, 大都會區 的圖片&#10;&#10;AI 產生的內容可能不正確。">
            <a:extLst>
              <a:ext uri="{FF2B5EF4-FFF2-40B4-BE49-F238E27FC236}">
                <a16:creationId xmlns:a16="http://schemas.microsoft.com/office/drawing/2014/main" id="{DF5989F6-64B7-FE34-C5CF-1D81725B96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4959" r="15051" b="19693"/>
          <a:stretch/>
        </p:blipFill>
        <p:spPr>
          <a:xfrm>
            <a:off x="-1" y="0"/>
            <a:ext cx="12192000" cy="3169920"/>
          </a:xfrm>
          <a:prstGeom prst="rect">
            <a:avLst/>
          </a:prstGeom>
        </p:spPr>
      </p:pic>
      <p:sp>
        <p:nvSpPr>
          <p:cNvPr id="3" name="Text Placeholder 31">
            <a:extLst>
              <a:ext uri="{FF2B5EF4-FFF2-40B4-BE49-F238E27FC236}">
                <a16:creationId xmlns:a16="http://schemas.microsoft.com/office/drawing/2014/main" id="{3B1259DF-3F56-1023-6F8B-5567F7CE3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6000" y="4971319"/>
            <a:ext cx="9360000" cy="66821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Business Division</a:t>
            </a:r>
            <a:r>
              <a:rPr lang="zh-TW" altLang="en-US"/>
              <a:t> </a:t>
            </a:r>
            <a:r>
              <a:rPr lang="en-US"/>
              <a:t>/</a:t>
            </a:r>
            <a:r>
              <a:rPr lang="zh-TW" altLang="en-US"/>
              <a:t> </a:t>
            </a:r>
            <a:r>
              <a:rPr lang="en-US"/>
              <a:t>Department</a:t>
            </a:r>
            <a:br>
              <a:rPr lang="en-US"/>
            </a:br>
            <a:r>
              <a:rPr lang="en-US" altLang="zh-TW"/>
              <a:t>Company Name</a:t>
            </a:r>
            <a:endParaRPr lang="en-GB"/>
          </a:p>
        </p:txBody>
      </p:sp>
      <p:sp>
        <p:nvSpPr>
          <p:cNvPr id="4" name="Title 15">
            <a:extLst>
              <a:ext uri="{FF2B5EF4-FFF2-40B4-BE49-F238E27FC236}">
                <a16:creationId xmlns:a16="http://schemas.microsoft.com/office/drawing/2014/main" id="{F9C7FD12-AEFC-2930-499D-9C95070DA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001" y="3489523"/>
            <a:ext cx="9360000" cy="14409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ct val="120000"/>
              </a:lnSpc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en-US"/>
              <a:t>Enter your title here</a:t>
            </a:r>
            <a:r>
              <a:rPr lang="en-US" altLang="zh-TW"/>
              <a:t>/</a:t>
            </a:r>
            <a:r>
              <a:rPr lang="zh-TW" altLang="en-US"/>
              <a:t>標題</a:t>
            </a:r>
            <a:endParaRPr lang="en-GB"/>
          </a:p>
        </p:txBody>
      </p:sp>
      <p:sp>
        <p:nvSpPr>
          <p:cNvPr id="7" name="Text Placeholder 31">
            <a:extLst>
              <a:ext uri="{FF2B5EF4-FFF2-40B4-BE49-F238E27FC236}">
                <a16:creationId xmlns:a16="http://schemas.microsoft.com/office/drawing/2014/main" id="{2B94C9C1-7667-DE81-6681-05C779E47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46867" y="5680361"/>
            <a:ext cx="2098266" cy="43201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/>
              <a:t>yyyy.mm.dd</a:t>
            </a:r>
            <a:endParaRPr lang="en-GB"/>
          </a:p>
        </p:txBody>
      </p:sp>
      <p:pic>
        <p:nvPicPr>
          <p:cNvPr id="6" name="圖片 5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2076D68A-CB22-5CD8-834C-1C410D477B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3499"/>
          <a:stretch/>
        </p:blipFill>
        <p:spPr>
          <a:xfrm>
            <a:off x="0" y="0"/>
            <a:ext cx="12192000" cy="446646"/>
          </a:xfrm>
          <a:prstGeom prst="rect">
            <a:avLst/>
          </a:prstGeom>
        </p:spPr>
      </p:pic>
      <p:pic>
        <p:nvPicPr>
          <p:cNvPr id="5" name="圖片 4" descr="一張含有 文字, 字型, 標誌, 圖形 的圖片&#10;&#10;AI 產生的內容可能不正確。">
            <a:extLst>
              <a:ext uri="{FF2B5EF4-FFF2-40B4-BE49-F238E27FC236}">
                <a16:creationId xmlns:a16="http://schemas.microsoft.com/office/drawing/2014/main" id="{28F8E197-46D8-FD2A-0828-AB6466910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6" y="366462"/>
            <a:ext cx="3919927" cy="90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6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8C1BCC7A-9476-882C-ED32-34B76EEDC21A}"/>
              </a:ext>
            </a:extLst>
          </p:cNvPr>
          <p:cNvCxnSpPr/>
          <p:nvPr/>
        </p:nvCxnSpPr>
        <p:spPr>
          <a:xfrm>
            <a:off x="2245360" y="772160"/>
            <a:ext cx="0" cy="4826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70787CD-36F0-3EFD-89D4-CDAB8A2B00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3170" y="792480"/>
            <a:ext cx="8618046" cy="4826000"/>
          </a:xfrm>
          <a:prstGeom prst="rect">
            <a:avLst/>
          </a:prstGeom>
        </p:spPr>
        <p:txBody>
          <a:bodyPr lIns="0" tIns="72000" rIns="0" bIns="0" anchor="t" anchorCtr="0"/>
          <a:lstStyle>
            <a:lvl1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2400" b="1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TW" altLang="en-US"/>
              <a:t>章節標題</a:t>
            </a:r>
            <a:endParaRPr lang="en-US" altLang="zh-TW"/>
          </a:p>
          <a:p>
            <a:pPr lvl="0"/>
            <a:r>
              <a:rPr lang="zh-TW" altLang="en-US"/>
              <a:t>章節標題</a:t>
            </a:r>
            <a:endParaRPr lang="en-US" altLang="zh-TW"/>
          </a:p>
          <a:p>
            <a:pPr lvl="0"/>
            <a:r>
              <a:rPr lang="zh-TW" altLang="en-US"/>
              <a:t>章節標題</a:t>
            </a:r>
            <a:endParaRPr lang="en-US" altLang="zh-TW"/>
          </a:p>
          <a:p>
            <a:pPr lvl="0"/>
            <a:r>
              <a:rPr lang="zh-TW" altLang="en-US"/>
              <a:t>章節標題</a:t>
            </a:r>
            <a:endParaRPr lang="en-US" altLang="zh-TW"/>
          </a:p>
          <a:p>
            <a:pPr lvl="0"/>
            <a:r>
              <a:rPr lang="zh-TW" altLang="en-US"/>
              <a:t>章節標題</a:t>
            </a:r>
            <a:endParaRPr lang="en-US" altLang="zh-TW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/>
              <a:t>章節標題</a:t>
            </a:r>
            <a:endParaRPr lang="en-US" altLang="zh-TW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/>
              <a:t>章節標題</a:t>
            </a:r>
            <a:endParaRPr lang="en-US" altLang="zh-TW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/>
              <a:t>章節標題</a:t>
            </a:r>
            <a:endParaRPr lang="en-US" altLang="zh-TW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/>
          </a:p>
          <a:p>
            <a:pPr lvl="0"/>
            <a:endParaRPr lang="en-US" altLang="zh-TW"/>
          </a:p>
          <a:p>
            <a:pPr lvl="0"/>
            <a:endParaRPr lang="en-GB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87517D7-B634-BF20-FD9D-FBBA8FDB4C9D}"/>
              </a:ext>
            </a:extLst>
          </p:cNvPr>
          <p:cNvSpPr txBox="1"/>
          <p:nvPr/>
        </p:nvSpPr>
        <p:spPr>
          <a:xfrm>
            <a:off x="610784" y="2600385"/>
            <a:ext cx="124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kern="1200" baseline="0">
                <a:solidFill>
                  <a:schemeClr val="tx2"/>
                </a:solidFill>
                <a:latin typeface="+mj-lt"/>
                <a:ea typeface="+mj-ea"/>
                <a:cs typeface="+mn-cs"/>
              </a:rPr>
              <a:t>目錄</a:t>
            </a:r>
          </a:p>
        </p:txBody>
      </p:sp>
    </p:spTree>
    <p:extLst>
      <p:ext uri="{BB962C8B-B14F-4D97-AF65-F5344CB8AC3E}">
        <p14:creationId xmlns:p14="http://schemas.microsoft.com/office/powerpoint/2010/main" val="24975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通用）過場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D791A4D-5205-4352-88AE-97FD7C1F3A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89997" y="2313647"/>
            <a:ext cx="8861538" cy="1368000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/>
              <a:t>Enter your section here</a:t>
            </a:r>
            <a:r>
              <a:rPr lang="en-US" altLang="zh-TW"/>
              <a:t>/</a:t>
            </a:r>
            <a:r>
              <a:rPr lang="zh-TW" altLang="en-US"/>
              <a:t>過場頁</a:t>
            </a:r>
            <a:endParaRPr lang="en-GB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F2F9EF8-0189-40EB-A178-BB8B489D7B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89997" y="3751989"/>
            <a:ext cx="8861538" cy="5076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/>
              <a:t>Enter your subsection here</a:t>
            </a:r>
            <a:endParaRPr lang="en-GB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7F589AA-59B8-1AA5-5269-AE950DF4C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7689" y="5236250"/>
            <a:ext cx="2056178" cy="1368000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4000" b="1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GB"/>
              <a:t>01</a:t>
            </a:r>
            <a:r>
              <a:rPr lang="en-US" altLang="zh-TW"/>
              <a:t>/</a:t>
            </a:r>
            <a:r>
              <a:rPr lang="zh-TW" altLang="en-US"/>
              <a:t>章節</a:t>
            </a:r>
            <a:endParaRPr lang="en-GB"/>
          </a:p>
        </p:txBody>
      </p:sp>
      <p:pic>
        <p:nvPicPr>
          <p:cNvPr id="3" name="圖片 2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70425691-2F5D-1B38-622A-C698AAA94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42" y="6343628"/>
            <a:ext cx="2431111" cy="5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68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通用）感謝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B2AC565-B4AC-412F-B16F-DC5E237291CB}"/>
              </a:ext>
            </a:extLst>
          </p:cNvPr>
          <p:cNvSpPr txBox="1"/>
          <p:nvPr/>
        </p:nvSpPr>
        <p:spPr>
          <a:xfrm>
            <a:off x="3911600" y="2875002"/>
            <a:ext cx="436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600" b="1">
                <a:solidFill>
                  <a:schemeClr val="tx2"/>
                </a:solidFill>
              </a:rPr>
              <a:t>THANK</a:t>
            </a:r>
            <a:r>
              <a:rPr kumimoji="1" lang="zh-TW" altLang="en-US" sz="6600" b="1">
                <a:solidFill>
                  <a:schemeClr val="tx2"/>
                </a:solidFill>
              </a:rPr>
              <a:t> </a:t>
            </a:r>
            <a:r>
              <a:rPr kumimoji="1" lang="en-US" altLang="zh-TW" sz="6600" b="1">
                <a:solidFill>
                  <a:schemeClr val="tx2"/>
                </a:solidFill>
              </a:rPr>
              <a:t>YOU</a:t>
            </a:r>
            <a:endParaRPr kumimoji="1" lang="zh-TW" altLang="en-US" sz="6600" b="1">
              <a:solidFill>
                <a:schemeClr val="tx2"/>
              </a:solidFill>
            </a:endParaRPr>
          </a:p>
        </p:txBody>
      </p:sp>
      <p:pic>
        <p:nvPicPr>
          <p:cNvPr id="4" name="圖片 3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3BF6A9C3-3AD0-FB3E-14AA-5427C2BF0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6" y="359440"/>
            <a:ext cx="3940079" cy="9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12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7988" y="1203650"/>
            <a:ext cx="11323328" cy="5141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342900" indent="-342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87338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marR="0" indent="-215900" algn="l" defTabSz="8953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tabLst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5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altLang="zh-TW"/>
              <a:t>Click to add text</a:t>
            </a:r>
          </a:p>
          <a:p>
            <a:pPr lvl="1"/>
            <a:r>
              <a:rPr lang="en-GB" altLang="zh-TW"/>
              <a:t>Level 1</a:t>
            </a:r>
          </a:p>
          <a:p>
            <a:pPr lvl="2"/>
            <a:r>
              <a:rPr lang="en-GB" altLang="zh-TW"/>
              <a:t>Level 2</a:t>
            </a:r>
          </a:p>
          <a:p>
            <a:pPr lvl="3"/>
            <a:r>
              <a:rPr lang="en-GB" altLang="zh-TW"/>
              <a:t>Level 3</a:t>
            </a:r>
          </a:p>
          <a:p>
            <a:pPr lvl="4"/>
            <a:r>
              <a:rPr lang="en-GB" altLang="zh-TW"/>
              <a:t>Level 4</a:t>
            </a:r>
          </a:p>
        </p:txBody>
      </p:sp>
      <p:sp>
        <p:nvSpPr>
          <p:cNvPr id="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22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75">
          <p15:clr>
            <a:srgbClr val="FBAE40"/>
          </p15:clr>
        </p15:guide>
        <p15:guide id="3" orient="horz" pos="75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7970D2F-BD06-470D-9E52-3C26FE963FA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28775"/>
            <a:ext cx="11323328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342900" indent="-342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87338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marR="0" indent="-215900" algn="l" defTabSz="8953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tabLst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5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altLang="zh-TW"/>
              <a:t>Click to add text</a:t>
            </a:r>
          </a:p>
          <a:p>
            <a:pPr lvl="1"/>
            <a:r>
              <a:rPr lang="en-GB" altLang="zh-TW"/>
              <a:t>Level 1</a:t>
            </a:r>
          </a:p>
          <a:p>
            <a:pPr lvl="2"/>
            <a:r>
              <a:rPr lang="en-GB" altLang="zh-TW"/>
              <a:t>Level 2</a:t>
            </a:r>
          </a:p>
          <a:p>
            <a:pPr lvl="3"/>
            <a:r>
              <a:rPr lang="en-GB" altLang="zh-TW"/>
              <a:t>Level 3</a:t>
            </a:r>
          </a:p>
          <a:p>
            <a:pPr lvl="4"/>
            <a:r>
              <a:rPr lang="en-GB" altLang="zh-TW"/>
              <a:t>Level 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8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4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7401">
          <p15:clr>
            <a:srgbClr val="FBAE40"/>
          </p15:clr>
        </p15:guide>
        <p15:guide id="3" pos="9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7988" y="2024064"/>
            <a:ext cx="11332509" cy="4321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7988" y="1586507"/>
            <a:ext cx="11332509" cy="359941"/>
          </a:xfrm>
          <a:prstGeom prst="callout1">
            <a:avLst>
              <a:gd name="adj1" fmla="val 100536"/>
              <a:gd name="adj2" fmla="val 100112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8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983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06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">
          <p15:clr>
            <a:srgbClr val="FBAE40"/>
          </p15:clr>
        </p15:guide>
        <p15:guide id="2" orient="horz" pos="4042">
          <p15:clr>
            <a:srgbClr val="FBAE40"/>
          </p15:clr>
        </p15:guide>
        <p15:guide id="3" pos="257">
          <p15:clr>
            <a:srgbClr val="FBAE40"/>
          </p15:clr>
        </p15:guide>
        <p15:guide id="4" orient="horz" pos="123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F641177-0307-4560-B9E4-B0B53B756C21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07988" y="4221163"/>
            <a:ext cx="11332509" cy="212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1A0AB36-A5D0-42CC-9CAC-1F9062CB674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3799929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tabLst>
                <a:tab pos="11303000" algn="l"/>
              </a:tabLst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8441594-DCE9-48B3-AC8B-4B1A05646A3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41258"/>
            <a:ext cx="11332509" cy="2121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509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102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005263"/>
            <a:ext cx="11332509" cy="233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41258"/>
            <a:ext cx="11332509" cy="2327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600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3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184649"/>
            <a:ext cx="11332509" cy="216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F8B2D3E-5FAF-4BD3-83CF-ABF4E867FE2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988" y="3740933"/>
            <a:ext cx="11341100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00759"/>
            <a:ext cx="11332509" cy="214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06B56A-B43E-46BE-829B-5B4F9E5C1E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48466"/>
            <a:ext cx="11341100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074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2364">
          <p15:clr>
            <a:srgbClr val="FBAE40"/>
          </p15:clr>
        </p15:guide>
        <p15:guide id="3" orient="horz" pos="95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400550"/>
            <a:ext cx="11332509" cy="1949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F8B2D3E-5FAF-4BD3-83CF-ABF4E867FE2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988" y="3971929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2024065"/>
            <a:ext cx="11332509" cy="19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06B56A-B43E-46BE-829B-5B4F9E5C1E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581227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996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57">
          <p15:clr>
            <a:srgbClr val="FBAE40"/>
          </p15:clr>
        </p15:guide>
        <p15:guide id="3" orient="horz" pos="123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B6BC5F27-E9F6-40C0-A26F-CF6C4705AD9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1628775"/>
            <a:ext cx="5627077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79FBBDF0-3048-45E6-BC86-D9360370AE6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1628775"/>
            <a:ext cx="5616817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155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58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1E5CD1F-EEF3-4B76-9600-987011CA4DC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14668" y="1592263"/>
            <a:ext cx="5627077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2CCDD8-CD6C-4694-80B7-D006A02B3E6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163582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7C5BC3-DE11-4D67-B5C9-A8B64DCAE1E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3"/>
            <a:ext cx="56177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EC377B-27BC-41D7-9506-CFEF46B4C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163582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615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1E5CD1F-EEF3-4B76-9600-987011CA4DC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14668" y="2024063"/>
            <a:ext cx="562707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2CCDD8-CD6C-4694-80B7-D006A02B3E6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586827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7C5BC3-DE11-4D67-B5C9-A8B64DCAE1E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562707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EC377B-27BC-41D7-9506-CFEF46B4C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586827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423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100C42-5E9D-4091-84A9-440B7CE7846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996221" y="2024062"/>
            <a:ext cx="374427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FCA33D-A51F-4D84-B111-CA8D6AC297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96222" y="1623524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7B5954-1385-48E5-AD7D-8B8C411D18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2"/>
            <a:ext cx="7532308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0AB72A-EC65-4F02-8DC3-FE8C0D35D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3524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91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100C42-5E9D-4091-84A9-440B7CE7846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996221" y="1592263"/>
            <a:ext cx="374427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FCA33D-A51F-4D84-B111-CA8D6AC297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96222" y="1200808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7B5954-1385-48E5-AD7D-8B8C411D18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592263"/>
            <a:ext cx="7532308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0AB72A-EC65-4F02-8DC3-FE8C0D35D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200808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489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6A32DA9-22F2-4A3D-BA67-3C8FFCC36E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08189" y="2017392"/>
            <a:ext cx="7532308" cy="43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A0E0F3-2363-431F-B9FE-11A29C0B589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08189" y="1624881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5BDF907-55AE-4364-BF69-106DE4CB73C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17392"/>
            <a:ext cx="3744276" cy="43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42AC367-969B-409A-B073-47505136EA9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4881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709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6A32DA9-22F2-4A3D-BA67-3C8FFCC36E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08189" y="1592264"/>
            <a:ext cx="7532308" cy="475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A0E0F3-2363-431F-B9FE-11A29C0B589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08189" y="1192833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5BDF907-55AE-4364-BF69-106DE4CB73C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4"/>
            <a:ext cx="3744276" cy="475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42AC367-969B-409A-B073-47505136EA9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192833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648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173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9EDE55-BE84-4286-8647-C2DFD74C49B9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8018651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C153065-F8B6-4F3F-ACAC-59C27A291C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208190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2EE0621-83CB-4E64-9568-F4FC79F562D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170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864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9EDE55-BE84-4286-8647-C2DFD74C49B9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8018651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C153065-F8B6-4F3F-ACAC-59C27A291C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208190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2EE0621-83CB-4E64-9568-F4FC79F562D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60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41CB5B44-019E-4F14-97DD-AF23159E78D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4221162"/>
            <a:ext cx="5627077" cy="2124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D70E5A9-41E4-4D45-AD38-1F3CEF9393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3800111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A5CDEB7-0FA8-4B31-8E06-F3541629D6D2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4221162"/>
            <a:ext cx="5627077" cy="212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5E03F30-C1F6-4313-B163-2883AE1B5C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3800115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343FAD0A-B607-4163-B361-C1F3CB5A511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636325"/>
            <a:ext cx="11342769" cy="213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222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93">
          <p15:clr>
            <a:srgbClr val="FBAE40"/>
          </p15:clr>
        </p15:guide>
        <p15:guide id="2" pos="16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4811C8C-D164-4F4D-AD44-98CB92E36BA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096000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CADF248-2631-4CFE-97EF-BF644B2ABD7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6000" y="400320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F3DB458-A060-417D-B654-E47BCA53AF0C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096000" y="2033519"/>
            <a:ext cx="5645745" cy="1933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7E22BA-CF60-4734-86C2-62CA4BD0DAA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612784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7BFC82F-F4DD-48AE-9909-B6D1FCEA28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6"/>
            <a:ext cx="5627077" cy="471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373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679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298F483-478E-4996-824E-2A9E21F57FA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1628776"/>
            <a:ext cx="5627077" cy="471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BAC8B7-A7AB-4EAE-B739-A053DAEB8A7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97728" y="4376274"/>
            <a:ext cx="5627077" cy="196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6302218-2A0A-4BEC-B195-F4DB563AA79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97728" y="4006402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565E152-5187-46E3-8C0D-4525F8A5272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07988" y="2021771"/>
            <a:ext cx="5635485" cy="193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2A74A5-7B62-440F-A127-20221AA824A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97728" y="1614575"/>
            <a:ext cx="56457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950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4811C8C-D164-4F4D-AD44-98CB92E36BA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096000" y="4398355"/>
            <a:ext cx="5627077" cy="1946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CADF248-2631-4CFE-97EF-BF644B2ABD7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6000" y="4001009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F3DB458-A060-417D-B654-E47BCA53AF0C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05337" y="2035318"/>
            <a:ext cx="5627077" cy="1931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7E22BA-CF60-4734-86C2-62CA4BD0DAA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61896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7BFC82F-F4DD-48AE-9909-B6D1FCEA28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2035317"/>
            <a:ext cx="5616817" cy="4309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5A679F0-7236-4334-90D5-8BD873976C2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97728" y="1618969"/>
            <a:ext cx="562707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119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298F483-478E-4996-824E-2A9E21F57FA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2030014"/>
            <a:ext cx="5627077" cy="4351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E36B0E1-6B8A-4A0D-9ADA-953E16F0539B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113420" y="1614908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BAC8B7-A7AB-4EAE-B739-A053DAEB8A7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07926" y="4400549"/>
            <a:ext cx="5616880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6302218-2A0A-4BEC-B195-F4DB563AA79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07926" y="4001007"/>
            <a:ext cx="561688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565E152-5187-46E3-8C0D-4525F8A5272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07988" y="2030014"/>
            <a:ext cx="5635486" cy="193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2A74A5-7B62-440F-A127-20221AA824A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07926" y="1613663"/>
            <a:ext cx="563554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73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34">
          <p15:clr>
            <a:srgbClr val="FBAE40"/>
          </p15:clr>
        </p15:guide>
        <p15:guide id="3" orient="horz" pos="25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3DAD6F2-9CD2-419A-AADB-9C6F463BAC5D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5D0F3B5-4CA9-457E-97EA-106D2B4E2E9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4000965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A6D3C757-C209-4BD9-B547-0247D170CC1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1F65459-E369-4A5E-B52E-535D7846BEC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97728" y="4000965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50EBC26-A16E-4E46-83E1-7CE9406AAD3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2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7080BE1-CC31-4005-A203-224583BF000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7426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912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7D1C4159-E098-4623-9DD4-1F6C7473EBB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4400550"/>
            <a:ext cx="11342769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5E0CF8A-F0A4-41A0-BB36-42D8B25C52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4010343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9867DA-A293-4509-815E-5276F56F595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2024063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C200E8F-3A6F-48C1-BC18-5705222CCE4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162749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D2FFE41-070C-4FFF-B242-8193FF7A09B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47413EB-5A05-4C6F-A883-B11BF169F77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97728" y="162749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720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E6E682E-FD01-4828-AF4F-FBE6B94B33F5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6114668" y="4005262"/>
            <a:ext cx="5627077" cy="233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E7ECC9D-A491-4615-8321-CB464BFBF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397728" y="4005262"/>
            <a:ext cx="5627077" cy="233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281683-240E-4F10-BB66-46437D607E96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114668" y="1628775"/>
            <a:ext cx="5627077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782D65-3C6F-466F-B2D8-2B6AE589271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5"/>
            <a:ext cx="5627077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76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0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E6E682E-FD01-4828-AF4F-FBE6B94B33F5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6114668" y="4415130"/>
            <a:ext cx="5627077" cy="193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635956E-268B-43D9-BF45-7B785C33D71A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114668" y="400101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E7ECC9D-A491-4615-8321-CB464BFBF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397728" y="4415130"/>
            <a:ext cx="5627077" cy="193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EB1493D-D832-4EC9-AA51-C637D57BB44D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97728" y="400101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281683-240E-4F10-BB66-46437D607E96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114668" y="2024062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FAB6F57-8C3A-4EB7-B362-4FFF671A710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1622290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782D65-3C6F-466F-B2D8-2B6AE589271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2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45436DE-00A6-470B-B2AB-75773A761CA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97728" y="1622290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426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72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F408BB9B-AC52-40F8-A854-65380A49C106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618" y="4400550"/>
            <a:ext cx="7531879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BEC4BC6-0E90-46D6-86FC-2BDFF9109B33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618" y="4003126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805E85D-264E-48A1-93C9-ACE8F51FF69B}"/>
              </a:ext>
            </a:extLst>
          </p:cNvPr>
          <p:cNvSpPr>
            <a:spLocks noGrp="1"/>
          </p:cNvSpPr>
          <p:nvPr>
            <p:ph sz="half" idx="45" hasCustomPrompt="1"/>
          </p:nvPr>
        </p:nvSpPr>
        <p:spPr>
          <a:xfrm>
            <a:off x="397728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6EF9368-91D5-4441-B93F-09783401AF5C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97728" y="4003126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F620703C-EB94-423A-A6A7-15C06D712A5D}"/>
              </a:ext>
            </a:extLst>
          </p:cNvPr>
          <p:cNvSpPr>
            <a:spLocks noGrp="1"/>
          </p:cNvSpPr>
          <p:nvPr>
            <p:ph sz="half" idx="47" hasCustomPrompt="1"/>
          </p:nvPr>
        </p:nvSpPr>
        <p:spPr>
          <a:xfrm>
            <a:off x="4208618" y="2024063"/>
            <a:ext cx="753187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CD21B2C-2AE5-4943-882A-2DA016D2D1E5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208618" y="1627471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E30F5FE-B230-470A-B748-5461DCC6221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8325A8B-C2C0-4387-B5D1-078AB50B732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747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3186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312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3B85F03-C5E0-4B8A-9D2F-DC06BCCB1019}"/>
              </a:ext>
            </a:extLst>
          </p:cNvPr>
          <p:cNvSpPr>
            <a:spLocks noGrp="1"/>
          </p:cNvSpPr>
          <p:nvPr>
            <p:ph sz="half" idx="45" hasCustomPrompt="1"/>
          </p:nvPr>
        </p:nvSpPr>
        <p:spPr>
          <a:xfrm>
            <a:off x="8018651" y="4400549"/>
            <a:ext cx="3721846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998954B-6896-4EF9-87DA-6227FC4DDDC0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8018651" y="400101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0C6BC5E7-EA23-48EF-9E8C-308BB821D9C1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07411" y="4400549"/>
            <a:ext cx="7531879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724201-757E-4FC4-BF08-BB2F5D5D17C0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07411" y="4001011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BDB2BECD-8AB9-489A-BF6B-18DF68B9003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FE39BF9-6EAA-4D70-9413-9DA2803EFB8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018651" y="1627473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C3DD2393-3438-449F-AB3B-CF90969CC048}"/>
              </a:ext>
            </a:extLst>
          </p:cNvPr>
          <p:cNvSpPr>
            <a:spLocks noGrp="1"/>
          </p:cNvSpPr>
          <p:nvPr>
            <p:ph sz="half" idx="47" hasCustomPrompt="1"/>
          </p:nvPr>
        </p:nvSpPr>
        <p:spPr>
          <a:xfrm>
            <a:off x="407411" y="2024063"/>
            <a:ext cx="753187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B9AF990-4A38-42A1-91E6-A8CA4D9F2FCF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07411" y="1627473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068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215043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628775"/>
            <a:ext cx="11342769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6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3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680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408765"/>
            <a:ext cx="3721846" cy="1936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3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89E54E-53CC-4E07-8A5E-9F7D7A2EED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5793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9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pos="23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4400550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4010338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15847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20946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2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2916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2024062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97728" y="162916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826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215043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381967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382788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382788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9" y="1628775"/>
            <a:ext cx="560683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219A0-C1B8-3176-077A-18C833F7E9C8}"/>
              </a:ext>
            </a:extLst>
          </p:cNvPr>
          <p:cNvSpPr>
            <a:spLocks noGrp="1"/>
          </p:cNvSpPr>
          <p:nvPr>
            <p:ph sz="half" idx="52" hasCustomPrompt="1"/>
          </p:nvPr>
        </p:nvSpPr>
        <p:spPr>
          <a:xfrm>
            <a:off x="6124484" y="1628775"/>
            <a:ext cx="560683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6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961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392335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400364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401186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401186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3"/>
            <a:ext cx="561699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89E54E-53CC-4E07-8A5E-9F7D7A2EED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5794"/>
            <a:ext cx="5616991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063F31F-F1FF-3779-154C-C8D08EB68E99}"/>
              </a:ext>
            </a:extLst>
          </p:cNvPr>
          <p:cNvSpPr>
            <a:spLocks noGrp="1"/>
          </p:cNvSpPr>
          <p:nvPr>
            <p:ph sz="half" idx="52" hasCustomPrompt="1"/>
          </p:nvPr>
        </p:nvSpPr>
        <p:spPr>
          <a:xfrm>
            <a:off x="6096000" y="2024063"/>
            <a:ext cx="561699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747DD-3FA6-8DAB-3DA5-21EEC2F86367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6096000" y="1625794"/>
            <a:ext cx="5616991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6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3997">
          <p15:clr>
            <a:srgbClr val="FBAE40"/>
          </p15:clr>
        </p15:guide>
        <p15:guide id="6" orient="horz" pos="277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4400550"/>
            <a:ext cx="5606732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4010342"/>
            <a:ext cx="5606732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3027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3027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407988" y="2024063"/>
            <a:ext cx="371158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07988" y="1630278"/>
            <a:ext cx="371158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C7B991D-9D36-0347-226D-8E4655C48B29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6114324" y="4400550"/>
            <a:ext cx="5616992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0CBCF4A-E12E-7C78-0A84-11F7744BEACE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114324" y="4010342"/>
            <a:ext cx="5616992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483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orient="horz" pos="754">
          <p15:clr>
            <a:srgbClr val="FBAE40"/>
          </p15:clr>
        </p15:guide>
        <p15:guide id="8" pos="23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9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9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49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51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5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97728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57" name="Content Placeholder 3">
            <a:extLst>
              <a:ext uri="{FF2B5EF4-FFF2-40B4-BE49-F238E27FC236}">
                <a16:creationId xmlns:a16="http://schemas.microsoft.com/office/drawing/2014/main" id="{5243BAB5-2683-FC27-0840-90042774B979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4235077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699ACCF4-C618-5EE9-15B6-9671CECEAFEE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4235077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59" name="Content Placeholder 3">
            <a:extLst>
              <a:ext uri="{FF2B5EF4-FFF2-40B4-BE49-F238E27FC236}">
                <a16:creationId xmlns:a16="http://schemas.microsoft.com/office/drawing/2014/main" id="{6A54C7B4-B66F-E24F-6455-7202C8C5C0B7}"/>
              </a:ext>
            </a:extLst>
          </p:cNvPr>
          <p:cNvSpPr>
            <a:spLocks noGrp="1"/>
          </p:cNvSpPr>
          <p:nvPr>
            <p:ph sz="half" idx="55" hasCustomPrompt="1"/>
          </p:nvPr>
        </p:nvSpPr>
        <p:spPr>
          <a:xfrm>
            <a:off x="8018651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0B09CA03-8042-D719-0152-371B18C662FD}"/>
              </a:ext>
            </a:extLst>
          </p:cNvPr>
          <p:cNvSpPr>
            <a:spLocks noGrp="1"/>
          </p:cNvSpPr>
          <p:nvPr>
            <p:ph type="body" idx="56" hasCustomPrompt="1"/>
          </p:nvPr>
        </p:nvSpPr>
        <p:spPr>
          <a:xfrm>
            <a:off x="8018651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6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6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062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pos="234">
          <p15:clr>
            <a:srgbClr val="FBAE40"/>
          </p15:clr>
        </p15:guide>
        <p15:guide id="8" orient="horz" pos="754">
          <p15:clr>
            <a:srgbClr val="FBAE40"/>
          </p15:clr>
        </p15:guide>
        <p15:guide id="9" orient="horz" pos="119">
          <p15:clr>
            <a:srgbClr val="FBAE40"/>
          </p15:clr>
        </p15:guide>
        <p15:guide id="10" orient="horz" pos="98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內頁（表格呈現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螢幕擷取畫面, 圖形, 設計 的圖片&#10;&#10;自動產生的描述">
            <a:extLst>
              <a:ext uri="{FF2B5EF4-FFF2-40B4-BE49-F238E27FC236}">
                <a16:creationId xmlns:a16="http://schemas.microsoft.com/office/drawing/2014/main" id="{BBB0416C-20C5-2BC3-D506-25839A94B7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F378ABA5-16C5-B9E7-1DBA-33FE2EB9D165}"/>
              </a:ext>
            </a:extLst>
          </p:cNvPr>
          <p:cNvCxnSpPr>
            <a:cxnSpLocks/>
          </p:cNvCxnSpPr>
          <p:nvPr userDrawn="1"/>
        </p:nvCxnSpPr>
        <p:spPr>
          <a:xfrm>
            <a:off x="943629" y="1155639"/>
            <a:ext cx="10329796" cy="0"/>
          </a:xfrm>
          <a:prstGeom prst="line">
            <a:avLst/>
          </a:prstGeom>
          <a:ln w="12700">
            <a:solidFill>
              <a:srgbClr val="103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版面配置區 12">
            <a:extLst>
              <a:ext uri="{FF2B5EF4-FFF2-40B4-BE49-F238E27FC236}">
                <a16:creationId xmlns:a16="http://schemas.microsoft.com/office/drawing/2014/main" id="{F01B6E24-C437-F387-95DC-E07A5E382B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388" y="620783"/>
            <a:ext cx="2211219" cy="565149"/>
          </a:xfrm>
          <a:prstGeom prst="rect">
            <a:avLst/>
          </a:prstGeom>
        </p:spPr>
        <p:txBody>
          <a:bodyPr/>
          <a:lstStyle>
            <a:lvl1pPr marL="239994" indent="0" algn="ctr">
              <a:spcBef>
                <a:spcPts val="0"/>
              </a:spcBef>
              <a:buNone/>
              <a:defRPr sz="2933" spc="400">
                <a:solidFill>
                  <a:srgbClr val="103671"/>
                </a:solidFill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</a:lstStyle>
          <a:p>
            <a:pPr lvl="0"/>
            <a:r>
              <a:rPr lang="zh-CN" altLang="en-US"/>
              <a:t>凱基證券</a:t>
            </a:r>
            <a:endParaRPr lang="zh-TW" altLang="en-US"/>
          </a:p>
        </p:txBody>
      </p:sp>
      <p:sp>
        <p:nvSpPr>
          <p:cNvPr id="9" name="文字版面配置區 14">
            <a:extLst>
              <a:ext uri="{FF2B5EF4-FFF2-40B4-BE49-F238E27FC236}">
                <a16:creationId xmlns:a16="http://schemas.microsoft.com/office/drawing/2014/main" id="{A467421B-394A-5B62-8748-12C3194D3C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41889" y="702140"/>
            <a:ext cx="1719969" cy="3619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33">
                <a:solidFill>
                  <a:srgbClr val="103671"/>
                </a:solidFill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</a:lstStyle>
          <a:p>
            <a:pPr lvl="0"/>
            <a:r>
              <a:rPr lang="zh-CN" altLang="en-US"/>
              <a:t>企業報告書</a:t>
            </a:r>
            <a:endParaRPr lang="zh-TW" altLang="en-US"/>
          </a:p>
        </p:txBody>
      </p:sp>
      <p:sp>
        <p:nvSpPr>
          <p:cNvPr id="10" name="文字版面配置區 25">
            <a:extLst>
              <a:ext uri="{FF2B5EF4-FFF2-40B4-BE49-F238E27FC236}">
                <a16:creationId xmlns:a16="http://schemas.microsoft.com/office/drawing/2014/main" id="{41A0129D-9FCA-BD2C-A617-02FD7522DD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333" y="1583138"/>
            <a:ext cx="2477745" cy="3661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rgbClr val="103671"/>
                </a:solidFill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</a:lstStyle>
          <a:p>
            <a:pPr lvl="0"/>
            <a:r>
              <a:rPr lang="zh-CN" altLang="en-US"/>
              <a:t>副標位置</a:t>
            </a:r>
            <a:endParaRPr lang="zh-TW" altLang="en-US"/>
          </a:p>
        </p:txBody>
      </p:sp>
      <p:sp>
        <p:nvSpPr>
          <p:cNvPr id="12" name="表格版面配置區 11">
            <a:extLst>
              <a:ext uri="{FF2B5EF4-FFF2-40B4-BE49-F238E27FC236}">
                <a16:creationId xmlns:a16="http://schemas.microsoft.com/office/drawing/2014/main" id="{952C1691-32B0-65FA-1FD5-E61F4C482058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944034" y="2087034"/>
            <a:ext cx="10329333" cy="37465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>
                <a:solidFill>
                  <a:srgbClr val="103671"/>
                </a:solidFill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</a:lstStyle>
          <a:p>
            <a:r>
              <a:rPr lang="zh-CN" altLang="en-US"/>
              <a:t>表格放置區</a:t>
            </a:r>
            <a:endParaRPr lang="zh-TW" altLang="en-US"/>
          </a:p>
        </p:txBody>
      </p:sp>
      <p:sp>
        <p:nvSpPr>
          <p:cNvPr id="16" name="投影片編號版面配置區 12">
            <a:extLst>
              <a:ext uri="{FF2B5EF4-FFF2-40B4-BE49-F238E27FC236}">
                <a16:creationId xmlns:a16="http://schemas.microsoft.com/office/drawing/2014/main" id="{A36CAEC1-3BB6-5C33-034B-B6E5A63E74A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9343712" y="5622681"/>
            <a:ext cx="2743200" cy="366183"/>
          </a:xfrm>
        </p:spPr>
        <p:txBody>
          <a:bodyPr/>
          <a:lstStyle>
            <a:lvl1pPr>
              <a:defRPr sz="1067">
                <a:solidFill>
                  <a:srgbClr val="71717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altLang="zh-TW"/>
              <a:t>P.</a:t>
            </a:r>
            <a:fld id="{FE390D7C-F731-44A5-8E06-FD5F9951EF4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92304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版型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7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5" y="6172494"/>
            <a:ext cx="10725641" cy="20251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731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/>
              <a:t>註解樣式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Size9)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FE077545-8B50-2994-D2D5-F8BDBBD57E6E}"/>
              </a:ext>
            </a:extLst>
          </p:cNvPr>
          <p:cNvCxnSpPr>
            <a:cxnSpLocks/>
          </p:cNvCxnSpPr>
          <p:nvPr userDrawn="1"/>
        </p:nvCxnSpPr>
        <p:spPr>
          <a:xfrm>
            <a:off x="334965" y="1162092"/>
            <a:ext cx="11522075" cy="0"/>
          </a:xfrm>
          <a:prstGeom prst="line">
            <a:avLst/>
          </a:prstGeom>
          <a:ln w="12700">
            <a:solidFill>
              <a:srgbClr val="103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80DF450-408D-554F-CB1F-87721C09A3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2547" y="67862"/>
            <a:ext cx="5504492" cy="226295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lnSpc>
                <a:spcPts val="1139"/>
              </a:lnSpc>
              <a:spcBef>
                <a:spcPts val="0"/>
              </a:spcBef>
              <a:defRPr sz="813" baseline="0">
                <a:solidFill>
                  <a:schemeClr val="bg2"/>
                </a:solidFill>
                <a:latin typeface="+mn-lt"/>
              </a:defRPr>
            </a:lvl1pPr>
            <a:lvl2pPr marL="197152" indent="0">
              <a:buNone/>
              <a:defRPr/>
            </a:lvl2pPr>
          </a:lstStyle>
          <a:p>
            <a:pPr lvl="0"/>
            <a:r>
              <a:rPr lang="zh-TW" altLang="en-US"/>
              <a:t>章節標題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Size10)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1341438"/>
            <a:ext cx="11522076" cy="4716463"/>
          </a:xfrm>
          <a:prstGeom prst="rect">
            <a:avLst/>
          </a:prstGeom>
        </p:spPr>
        <p:txBody>
          <a:bodyPr lIns="0" tIns="0" rIns="0" bIns="0"/>
          <a:lstStyle>
            <a:lvl1pPr marL="380990" indent="-380990">
              <a:lnSpc>
                <a:spcPts val="1788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1139" baseline="0">
                <a:solidFill>
                  <a:schemeClr val="bg2"/>
                </a:solidFill>
                <a:latin typeface="+mn-lt"/>
              </a:defRPr>
            </a:lvl1pPr>
            <a:lvl2pPr marL="219268" indent="-219268">
              <a:lnSpc>
                <a:spcPts val="1788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1139" baseline="0">
                <a:solidFill>
                  <a:schemeClr val="bg2"/>
                </a:solidFill>
                <a:latin typeface="+mn-lt"/>
              </a:defRPr>
            </a:lvl2pPr>
            <a:lvl3pPr marL="219268" indent="-219268">
              <a:lnSpc>
                <a:spcPts val="1788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1139" baseline="0">
                <a:solidFill>
                  <a:schemeClr val="bg2"/>
                </a:solidFill>
                <a:latin typeface="+mn-lt"/>
              </a:defRPr>
            </a:lvl3pPr>
            <a:lvl4pPr marL="219268" indent="-219268">
              <a:lnSpc>
                <a:spcPts val="1788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1139" baseline="0">
                <a:solidFill>
                  <a:schemeClr val="bg2"/>
                </a:solidFill>
                <a:latin typeface="+mn-lt"/>
              </a:defRPr>
            </a:lvl4pPr>
            <a:lvl5pPr marL="219268" indent="-219268">
              <a:lnSpc>
                <a:spcPts val="1788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1139" baseline="0">
                <a:solidFill>
                  <a:schemeClr val="bg2"/>
                </a:solidFill>
                <a:latin typeface="+mn-lt"/>
              </a:defRPr>
            </a:lvl5pPr>
          </a:lstStyle>
          <a:p>
            <a:r>
              <a:rPr lang="zh-TW" altLang="en-US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內文標題</a:t>
            </a:r>
            <a:r>
              <a:rPr lang="en-US" altLang="zh-TW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(</a:t>
            </a:r>
            <a:r>
              <a:rPr lang="zh-TW" altLang="en-US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微軟正黑體</a:t>
            </a:r>
            <a:r>
              <a:rPr lang="en-US" altLang="zh-TW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Bold/ Arial Bold/ Size16/ </a:t>
            </a:r>
            <a:r>
              <a:rPr lang="zh-TW" altLang="en-US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行距</a:t>
            </a:r>
            <a:r>
              <a:rPr lang="en-US" altLang="zh-TW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- </a:t>
            </a:r>
            <a:r>
              <a:rPr lang="zh-TW" altLang="en-US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固定行高</a:t>
            </a:r>
            <a:r>
              <a:rPr lang="en-US" altLang="zh-TW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22pt)</a:t>
            </a:r>
            <a:endParaRPr lang="zh-TW" altLang="en-US" sz="1300" b="1">
              <a:solidFill>
                <a:schemeClr val="accent1"/>
              </a:solidFill>
              <a:ea typeface="微軟正黑體" panose="020B0604030504040204" pitchFamily="34" charset="-120"/>
            </a:endParaRPr>
          </a:p>
          <a:p>
            <a:r>
              <a:rPr lang="zh-TW" altLang="en-US"/>
              <a:t>內文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Size14/ </a:t>
            </a:r>
            <a:r>
              <a:rPr lang="zh-TW" altLang="en-US"/>
              <a:t>行距</a:t>
            </a:r>
            <a:r>
              <a:rPr lang="en-US" altLang="zh-TW"/>
              <a:t>-</a:t>
            </a:r>
            <a:r>
              <a:rPr lang="zh-TW" altLang="en-US"/>
              <a:t> 固定行高</a:t>
            </a:r>
            <a:r>
              <a:rPr lang="en-US" altLang="zh-TW"/>
              <a:t>22pt)</a:t>
            </a:r>
          </a:p>
          <a:p>
            <a:r>
              <a:rPr lang="zh-TW" altLang="en-US"/>
              <a:t>內文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Size14/ </a:t>
            </a:r>
            <a:r>
              <a:rPr lang="zh-TW" altLang="en-US"/>
              <a:t>行距</a:t>
            </a:r>
            <a:r>
              <a:rPr lang="en-US" altLang="zh-TW"/>
              <a:t>-</a:t>
            </a:r>
            <a:r>
              <a:rPr lang="zh-TW" altLang="en-US"/>
              <a:t> 固定行高</a:t>
            </a:r>
            <a:r>
              <a:rPr lang="en-US" altLang="zh-TW"/>
              <a:t>22pt)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TW" altLang="en-US"/>
              <a:t>列點內文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Size14/ </a:t>
            </a:r>
            <a:r>
              <a:rPr lang="zh-TW" altLang="en-US"/>
              <a:t>行距</a:t>
            </a:r>
            <a:r>
              <a:rPr lang="en-US" altLang="zh-TW"/>
              <a:t>-</a:t>
            </a:r>
            <a:r>
              <a:rPr lang="zh-TW" altLang="en-US"/>
              <a:t> 固定行高</a:t>
            </a:r>
            <a:r>
              <a:rPr lang="en-US" altLang="zh-TW"/>
              <a:t>22pt)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TW" altLang="en-US"/>
              <a:t>列點內文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Size14/ </a:t>
            </a:r>
            <a:r>
              <a:rPr lang="zh-TW" altLang="en-US"/>
              <a:t>行距</a:t>
            </a:r>
            <a:r>
              <a:rPr lang="en-US" altLang="zh-TW"/>
              <a:t>-</a:t>
            </a:r>
            <a:r>
              <a:rPr lang="zh-TW" altLang="en-US"/>
              <a:t> 固定行高</a:t>
            </a:r>
            <a:r>
              <a:rPr lang="en-US" altLang="zh-TW"/>
              <a:t>22pt)</a:t>
            </a:r>
          </a:p>
        </p:txBody>
      </p:sp>
      <p:sp>
        <p:nvSpPr>
          <p:cNvPr id="10" name="文字版面配置區 9"/>
          <p:cNvSpPr>
            <a:spLocks noGrp="1"/>
          </p:cNvSpPr>
          <p:nvPr>
            <p:ph type="body" sz="quarter" idx="18" hasCustomPrompt="1"/>
          </p:nvPr>
        </p:nvSpPr>
        <p:spPr>
          <a:xfrm>
            <a:off x="334801" y="360003"/>
            <a:ext cx="11522239" cy="3330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439"/>
              </a:lnSpc>
              <a:spcBef>
                <a:spcPts val="0"/>
              </a:spcBef>
              <a:defRPr sz="2275" b="1" baseline="0">
                <a:solidFill>
                  <a:schemeClr val="bg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TW" altLang="en-US"/>
              <a:t>標題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BOLD/ Arial/ Size28)</a:t>
            </a:r>
          </a:p>
          <a:p>
            <a:pPr lvl="0"/>
            <a:endParaRPr lang="zh-TW" alt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788403"/>
            <a:ext cx="11522076" cy="28962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951"/>
              </a:lnSpc>
              <a:spcBef>
                <a:spcPts val="0"/>
              </a:spcBef>
              <a:defRPr sz="1463" b="1" baseline="0">
                <a:solidFill>
                  <a:schemeClr val="bg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TW" altLang="en-US"/>
              <a:t>副標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Bold/ Arial Bold/ Size18)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6391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Relationship Id="rId44" Type="http://schemas.openxmlformats.org/officeDocument/2006/relationships/image" Target="../media/image1.jpeg"/><Relationship Id="rId4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7">
            <a:extLst>
              <a:ext uri="{FF2B5EF4-FFF2-40B4-BE49-F238E27FC236}">
                <a16:creationId xmlns:a16="http://schemas.microsoft.com/office/drawing/2014/main" id="{D010357D-4661-5BCD-578C-B51C051AA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3198" y="6377755"/>
            <a:ext cx="23928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altLang="zh-TW" sz="1100" b="1" baseline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  <a:p>
            <a:pPr eaLnBrk="1" hangingPunct="1">
              <a:defRPr/>
            </a:pPr>
            <a:r>
              <a:rPr lang="zh-TW" altLang="en-US" sz="1100" b="1" baseline="0">
                <a:solidFill>
                  <a:srgbClr val="00377B"/>
                </a:solidFill>
                <a:latin typeface="+mn-lt"/>
                <a:ea typeface="+mn-ea"/>
              </a:rPr>
              <a:t>請勿遮蔽品牌標誌</a:t>
            </a:r>
            <a:endParaRPr lang="en-GB" altLang="zh-TW" sz="1100" b="1" baseline="0">
              <a:solidFill>
                <a:srgbClr val="00377B"/>
              </a:solidFill>
              <a:latin typeface="+mn-lt"/>
              <a:ea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sz="1100" b="1" baseline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61ED8FB1-F04A-E202-F3FB-6344E36C17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39" y="789321"/>
            <a:ext cx="11431385" cy="0"/>
          </a:xfrm>
          <a:prstGeom prst="line">
            <a:avLst/>
          </a:prstGeom>
          <a:noFill/>
          <a:ln w="12700">
            <a:solidFill>
              <a:srgbClr val="003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1BE3D5AD-E6C4-1426-1947-D7C5C1D61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1846" y="5997333"/>
            <a:ext cx="510154" cy="233670"/>
          </a:xfrm>
          <a:prstGeom prst="rect">
            <a:avLst/>
          </a:prstGeom>
          <a:solidFill>
            <a:srgbClr val="D9F1FF"/>
          </a:solidFill>
          <a:ln>
            <a:noFill/>
          </a:ln>
        </p:spPr>
        <p:txBody>
          <a:bodyPr lIns="54000" tIns="0" rIns="0" bIns="0" wrap="none"/>
          <a:lstStyle>
            <a:lvl1pPr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1pPr>
            <a:lvl2pPr marL="742950" indent="-28575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2pPr>
            <a:lvl3pPr marL="11430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3pPr>
            <a:lvl4pPr marL="16002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4pPr>
            <a:lvl5pPr marL="20574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9pPr>
          </a:lstStyle>
          <a:p>
            <a:pPr algn="just" eaLnBrk="1" hangingPunct="1">
              <a:defRPr/>
            </a:pPr>
            <a:fld id="{3A06688C-8A71-4C26-9DF0-BC8547FBA8DD}" type="slidenum">
              <a:rPr lang="en-US" altLang="zh-TW" sz="1600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algn="just" eaLnBrk="1" hangingPunct="1">
                <a:defRPr/>
              </a:pPr>
              <a:t>‹#›</a:t>
            </a:fld>
            <a:endParaRPr lang="en-US" altLang="zh-TW" sz="16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9A7D5925-9BBE-FE6F-FD7D-CB86CCD53C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39" y="6415350"/>
            <a:ext cx="11431383" cy="0"/>
          </a:xfrm>
          <a:prstGeom prst="line">
            <a:avLst/>
          </a:prstGeom>
          <a:noFill/>
          <a:ln w="12700">
            <a:solidFill>
              <a:srgbClr val="003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D6D4E521-F499-AF68-FF7D-3A638C99BB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21191" y="7872817"/>
            <a:ext cx="23928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altLang="zh-TW" sz="1100" b="1" baseline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  <a:p>
            <a:pPr eaLnBrk="1" hangingPunct="1">
              <a:defRPr/>
            </a:pPr>
            <a:r>
              <a:rPr lang="zh-TW" altLang="en-US" sz="1100" b="1" baseline="0">
                <a:solidFill>
                  <a:srgbClr val="00377B"/>
                </a:solidFill>
                <a:latin typeface="+mn-lt"/>
                <a:ea typeface="+mn-ea"/>
              </a:rPr>
              <a:t>請勿遮蔽品牌標誌</a:t>
            </a:r>
            <a:endParaRPr lang="en-GB" altLang="zh-TW" sz="1100" b="1" baseline="0">
              <a:solidFill>
                <a:srgbClr val="00377B"/>
              </a:solidFill>
              <a:latin typeface="+mn-lt"/>
              <a:ea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sz="1100" b="1" baseline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</p:txBody>
      </p:sp>
      <p:sp>
        <p:nvSpPr>
          <p:cNvPr id="13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9" y="6437589"/>
            <a:ext cx="9230378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  <p:pic>
        <p:nvPicPr>
          <p:cNvPr id="2" name="圖片 1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A142C6C8-979F-2A51-F159-6CC12369D203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609642" y="6343628"/>
            <a:ext cx="2431111" cy="5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2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50" r:id="rId2"/>
    <p:sldLayoutId id="2147483703" r:id="rId3"/>
    <p:sldLayoutId id="2147483660" r:id="rId4"/>
    <p:sldLayoutId id="2147483696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6A766FE7-7657-9269-B3A6-FD9D23D760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  <a:t>從預期主導到 TP 失序：MOVE 110 的訊號與 AI 融資風險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E591B18-5F09-0DDD-B3D8-4A110ACD5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  <a:t>美債 Vol 的定價轉變：TP 已回來，Vol 才剛開始定價</a:t>
            </a:r>
            <a:b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</a:b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87314B-3C1A-30FD-C7C8-2D33CE29A2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TW" dirty="0">
                <a:cs typeface="Times New Roman" panose="02020603050405020304" pitchFamily="18" charset="0"/>
              </a:rPr>
              <a:t>2026.10.03</a:t>
            </a:r>
            <a:endParaRPr lang="zh-TW" altLang="en-US" dirty="0"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7AB00D8-EC15-9D7E-BE3B-59F8F2ECE9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  <a:t>報告人：證券</a:t>
            </a:r>
            <a:r>
              <a:rPr lang="zh-TW" altLang="en-US" dirty="0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altLang="zh-TW" dirty="0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MA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  <a:t>金融交易組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  <a:t>_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  <a:t>林威宇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984733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" sz="half"/>
          </p:nvPr>
        </p:nvSpPr>
        <p:spPr>
          <a:xfrm>
            <a:off x="411480" y="3246120"/>
            <a:ext cx="11338560" cy="3017520"/>
          </a:xfrm>
        </p:spPr>
        <p:txBody>
          <a:bodyPr wrap="square"/>
          <a:lstStyle/>
          <a:p>
            <a:pPr>
              <a:buFont typeface="+mj-lt"/>
              <a:buAutoNum type="arabicPeriod"/>
            </a:pPr>
            <a:r>
              <a:rPr b="1" sz="1500"/>
              <a:t>TP 是第二大驅動</a:t>
            </a:r>
            <a:r>
              <a:rPr sz="1500"/>
              <a:t>：依 DKW，10Y 今年到 8 月的上升約三成五來自 TP，實質利率上升裡近四成是實質 TP；過程有序，沒有觸發恐慌性凸性避險，IV 因此停在低檔</a:t>
            </a:r>
          </a:p>
          <a:p>
            <a:pPr>
              <a:buFont typeface="+mj-lt"/>
              <a:buAutoNum type="arabicPeriod"/>
            </a:pPr>
            <a:r>
              <a:rPr b="1" sz="1500"/>
              <a:t>AI 融資是 TP 推手之一</a:t>
            </a:r>
            <a:r>
              <a:rPr sz="1500"/>
              <a:t>：2026 年 hyperscaler capex 約 9,170 億美元，與 8 家主要公司現有債務＋租賃（約 9,250 億）相當；AI 發行人 CDS 以評等而言偏高</a:t>
            </a:r>
          </a:p>
          <a:p>
            <a:pPr>
              <a:buFont typeface="+mj-lt"/>
              <a:buAutoNum type="arabicPeriod"/>
            </a:pPr>
            <a:r>
              <a:rPr b="1" sz="1500"/>
              <a:t>壓力先在信用，不在指數</a:t>
            </a:r>
            <a:r>
              <a:rPr sz="1500"/>
              <a:t>：9 月上半 Mag 7 +1.3%，等權重 S&amp;P −2.6%、Russell 2000 −2.9%；去槓桿風險低於 2025/4，但信用 Buffer 正在變薄</a:t>
            </a:r>
          </a:p>
          <a:p>
            <a:pPr>
              <a:buFont typeface="+mj-lt"/>
              <a:buAutoNum type="arabicPeriod"/>
            </a:pPr>
            <a:r>
              <a:rPr b="1" sz="1500"/>
              <a:t>結論待一項數據定案</a:t>
            </a:r>
            <a:r>
              <a:rPr sz="1500"/>
              <a:t>：近期 IV − RV 若明顯擴大 → 已進入 TP 失序期；若只是 IV 追上 RV → MOVE 上升只是補漲，賣 Vol 的機會還沒到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TP 從 7 月就在上升，Vol 直到 10 月初才定價；關鍵在 TP 的上升是否失序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192024"/>
            <a:ext cx="11329416" cy="548640"/>
          </a:xfrm>
        </p:spPr>
        <p:txBody>
          <a:bodyPr/>
          <a:lstStyle/>
          <a:p>
            <a:r>
              <a:t>摘要：TP 已回來，Vol 才剛開始定價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83080"/>
            <a:ext cx="2743200" cy="1234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92807"/>
            <a:ext cx="24688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sz="3200">
                <a:solidFill>
                  <a:srgbClr val="234976"/>
                </a:solidFill>
              </a:rPr>
              <a:t>+45 bp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24688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>
                <a:solidFill>
                  <a:srgbClr val="595959"/>
                </a:solidFill>
              </a:rPr>
              <a:t>Kim-Wright 10Y TP 今年以來（至 9/25）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783080"/>
            <a:ext cx="2743200" cy="1234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892807"/>
            <a:ext cx="24688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sz="3200">
                <a:solidFill>
                  <a:srgbClr val="E83F0A"/>
                </a:solidFill>
              </a:rPr>
              <a:t>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32888"/>
            <a:ext cx="24688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>
                <a:solidFill>
                  <a:srgbClr val="595959"/>
                </a:solidFill>
              </a:rPr>
              <a:t>MOVE（10/1），2025/4 高點為 140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2743200" cy="1234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92807"/>
            <a:ext cx="24688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sz="3200">
                <a:solidFill>
                  <a:srgbClr val="234976"/>
                </a:solidFill>
              </a:rPr>
              <a:t>70–80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32888"/>
            <a:ext cx="24688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>
                <a:solidFill>
                  <a:srgbClr val="595959"/>
                </a:solidFill>
              </a:rPr>
              <a:t>3m10y Swaption IV（bp/y，2026/5–9）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783080"/>
            <a:ext cx="2560320" cy="1234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892807"/>
            <a:ext cx="2286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sz="3200">
                <a:solidFill>
                  <a:srgbClr val="E83F0A"/>
                </a:solidFill>
              </a:rPr>
              <a:t>227 bp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532888"/>
            <a:ext cx="2286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>
                <a:solidFill>
                  <a:srgbClr val="595959"/>
                </a:solidFill>
              </a:rPr>
              <a:t>Oracle 5Y CDS（BBB−）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10Y 創 2002 年來新高，但 5–9 月 Swaption IV 停在歷史低檔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192024"/>
            <a:ext cx="11329416" cy="548640"/>
          </a:xfrm>
        </p:spPr>
        <p:txBody>
          <a:bodyPr/>
          <a:lstStyle/>
          <a:p>
            <a:r>
              <a:t>市況：殖利率創高，Vol 慢一拍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783080"/>
          <a:ext cx="6035040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/>
                <a:gridCol w="1737360"/>
                <a:gridCol w="25603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數值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備註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10Y 殖利率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5.34%（10/1 盤中）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2002 年以來最高；2026/5 約 4.3%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累計漲幅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+130 bp 以上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美伊開戰以來；9 月單月約 +60 bp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MOVE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110（10/1）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接近 2026/3 月底高點；2025/4 為 140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3m10y Swaption IV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70–80 bp/y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2026/5–9，歷史低檔區間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766560" y="1783080"/>
            <a:ext cx="4983480" cy="2880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920240"/>
            <a:ext cx="4663440" cy="4023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sz="1800">
                <a:solidFill>
                  <a:srgbClr val="234976"/>
                </a:solidFill>
              </a:rPr>
              <a:t>異常在哪裡</a:t>
            </a:r>
          </a:p>
          <a:p>
            <a:pPr algn="l"/>
            <a:r>
              <a:rPr sz="1400">
                <a:solidFill>
                  <a:srgbClr val="1F1F1F"/>
                </a:solidFill>
              </a:rPr>
              <a:t>5–9 月 10Y 上升約 100 bp，IV 卻沒有跟著擴張。傳統邏輯認為利率越高，終端利率與財政可持續性越不確定，波動度應同步上升。</a:t>
            </a:r>
          </a:p>
          <a:p>
            <a:pPr algn="l"/>
            <a:r>
              <a:rPr sz="800">
                <a:solidFill>
                  <a:srgbClr val="1F1F1F"/>
                </a:solidFill>
              </a:rPr>
              <a:t/>
            </a:r>
          </a:p>
          <a:p>
            <a:pPr algn="l"/>
            <a:r>
              <a:rPr b="1" sz="1800">
                <a:solidFill>
                  <a:srgbClr val="234976"/>
                </a:solidFill>
              </a:rPr>
              <a:t>怎麼理解</a:t>
            </a:r>
          </a:p>
          <a:p>
            <a:pPr algn="l"/>
            <a:r>
              <a:rPr sz="1400">
                <a:solidFill>
                  <a:srgbClr val="1F1F1F"/>
                </a:solidFill>
              </a:rPr>
              <a:t>波動度衡量震盪幅度，不是方向。70–80 bp/y 約等於每天 4–5 bp；100 bp 若在 5 個月內緩慢走高，只是約 2 個標準差的漂移，每日 RV 可以很低。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Kim-Wright 10Y TP 今年以來上升約 45 bp，多半發生在 7 月之後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192024"/>
            <a:ext cx="11329416" cy="548640"/>
          </a:xfrm>
        </p:spPr>
        <p:txBody>
          <a:bodyPr/>
          <a:lstStyle/>
          <a:p>
            <a:r>
              <a:t>拆解：預期是主力，TP 是第二大來源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737360"/>
          <a:ext cx="6949440" cy="4434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35240" y="1783080"/>
          <a:ext cx="41148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13716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名目 TP（年底→8/31）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bp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CR 模型（目測）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約 +18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DKW（主軸）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83F0A"/>
                          </a:solidFill>
                        </a:rPr>
                        <a:t>+20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Kim-Wright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+31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35240" y="3611880"/>
            <a:ext cx="4114800" cy="2560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>
                <a:solidFill>
                  <a:srgbClr val="1F1F1F"/>
                </a:solidFill>
              </a:rPr>
              <a:t>三個模型都同意：預期是主力，TP 是第二大來源，而且 7 月起持續上升。</a:t>
            </a:r>
          </a:p>
          <a:p>
            <a:pPr algn="l"/>
            <a:r>
              <a:rPr sz="1400">
                <a:solidFill>
                  <a:srgbClr val="1F1F1F"/>
                </a:solidFill>
              </a:rPr>
              <a:t>DKW 每月更新、只到 8/31；9 月以後暫用日資料的 Kim-Wright，至 9/25 已 +45 bp。</a:t>
            </a:r>
          </a:p>
          <a:p>
            <a:pPr algn="l"/>
            <a:r>
              <a:rPr b="1" sz="1400">
                <a:solidFill>
                  <a:srgbClr val="234976"/>
                </a:solidFill>
              </a:rPr>
              <a:t>TP 從 7 月起持續上升，9 月再加速。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" sz="half"/>
          </p:nvPr>
        </p:nvSpPr>
        <p:spPr>
          <a:xfrm>
            <a:off x="7635240" y="1783080"/>
            <a:ext cx="4114800" cy="4389120"/>
          </a:xfrm>
        </p:spPr>
        <p:txBody>
          <a:bodyPr wrap="square"/>
          <a:lstStyle/>
          <a:p>
            <a:r>
              <a:rPr b="1" sz="1400"/>
              <a:t>實質部分 +42 bp 怎麼拆</a:t>
            </a:r>
          </a:p>
          <a:p>
            <a:pPr>
              <a:buFont typeface="+mj-lt"/>
              <a:buAutoNum type="arabicPeriod"/>
            </a:pPr>
            <a:r>
              <a:rPr b="1" sz="1400"/>
              <a:t>預期實質短率 +25 bp</a:t>
            </a:r>
            <a:r>
              <a:rPr sz="1400"/>
              <a:t>：政策路徑與 r* 的預期，是主要驅動</a:t>
            </a:r>
          </a:p>
          <a:p>
            <a:pPr>
              <a:buFont typeface="+mj-lt"/>
              <a:buAutoNum type="arabicPeriod"/>
            </a:pPr>
            <a:r>
              <a:rPr b="1" sz="1400"/>
              <a:t>實質 TP +16 bp</a:t>
            </a:r>
            <a:r>
              <a:rPr sz="1400"/>
              <a:t>：約佔實質部分的 39%，TIPS 殖利率中屬於期限溢酬的部分</a:t>
            </a:r>
          </a:p>
          <a:p>
            <a:r>
              <a:rPr b="1" sz="1400"/>
              <a:t>7 月以來</a:t>
            </a:r>
          </a:p>
          <a:p>
            <a:pPr marL="0" indent="0">
              <a:buNone/>
            </a:pPr>
            <a:r>
              <a:rPr sz="1400"/>
              <a:t>6/30 → 8/31 名目 TP +15 bp，佔名目上升約四成；實質 TP（+13）大於預期實質短率（+10）。</a:t>
            </a:r>
          </a:p>
          <a:p>
            <a:r>
              <a:rPr b="1" sz="1400"/>
              <a:t>其他</a:t>
            </a:r>
          </a:p>
          <a:p>
            <a:pPr marL="0" indent="0">
              <a:buNone/>
            </a:pPr>
            <a:r>
              <a:rPr sz="1400"/>
              <a:t>通膨部分小：預期通膨 +12 bp、市場 BEI 約 +9 bp，9 月升息後回落。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10Y 今年到 8 月 +57 bp：預期實質短率 +25、實質 TP +16、預期通膨 +12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192024"/>
            <a:ext cx="11329416" cy="548640"/>
          </a:xfrm>
        </p:spPr>
        <p:txBody>
          <a:bodyPr/>
          <a:lstStyle/>
          <a:p>
            <a:r>
              <a:t>DKW：「實質利率」上升裡，近四成是實質 TP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737360"/>
          <a:ext cx="6949440" cy="4434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選擇權買方主要願意為 TP 衝擊付風險補償；利率由政策預期主導時，VRP 反而萎縮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192024"/>
            <a:ext cx="11329416" cy="548640"/>
          </a:xfrm>
        </p:spPr>
        <p:txBody>
          <a:bodyPr/>
          <a:lstStyle/>
          <a:p>
            <a:r>
              <a:t>框架：VRP 擴張的條件是 TP 失序，不只是 TP 上升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783080"/>
          <a:ext cx="6949440" cy="384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/>
                <a:gridCol w="2697480"/>
                <a:gridCol w="26974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面向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預期主導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TP 主導（失序）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驅動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總經數據＋央行 Reaction Function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財政、供給、流動性、持有者結構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避險工具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線性：SOFR / FF Futures、OIS、T-Bills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非線性：Deep OTM Payer Swaptions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買方價格敏感度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極低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分佈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均值回歸、有邊界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自我強化、肥尾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主要參與者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宏觀 HF、RV 基金、量化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Pension、Lifers、Sovereign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VRP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83F0A"/>
                          </a:solidFill>
                        </a:rPr>
                        <a:t>萎縮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83F0A"/>
                          </a:solidFill>
                        </a:rPr>
                        <a:t>擴張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35240" y="1783080"/>
            <a:ext cx="4114800" cy="32918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920240"/>
            <a:ext cx="379476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sz="1800">
                <a:solidFill>
                  <a:srgbClr val="234976"/>
                </a:solidFill>
              </a:rPr>
              <a:t>延伸：失序才是關鍵</a:t>
            </a:r>
          </a:p>
          <a:p>
            <a:pPr algn="l"/>
            <a:r>
              <a:rPr sz="1400">
                <a:solidFill>
                  <a:srgbClr val="1F1F1F"/>
                </a:solidFill>
              </a:rPr>
              <a:t>7–8 月 TP 上升約 20 bp，IV 並未跟上。真正推高 VRP 的是失序特徵：做市商資產負債表受限、Repo Haircut 加大、股債負相關失靈、保證金追繳引發拋售循環。</a:t>
            </a:r>
          </a:p>
          <a:p>
            <a:pPr algn="l"/>
            <a:r>
              <a:rPr sz="800">
                <a:solidFill>
                  <a:srgbClr val="1F1F1F"/>
                </a:solidFill>
              </a:rPr>
              <a:t/>
            </a:r>
          </a:p>
          <a:p>
            <a:pPr algn="l"/>
            <a:r>
              <a:rPr b="1" sz="1800">
                <a:solidFill>
                  <a:srgbClr val="E83F0A"/>
                </a:solidFill>
              </a:rPr>
              <a:t>待驗證的另一種可能</a:t>
            </a:r>
          </a:p>
          <a:p>
            <a:pPr algn="l"/>
            <a:r>
              <a:rPr sz="1400">
                <a:solidFill>
                  <a:srgbClr val="1F1F1F"/>
                </a:solidFill>
              </a:rPr>
              <a:t>MOVE 現在才升，可能只是 IV 落後 RV 在補漲、賣 Vol 部位回補，或殖利率突破 5% 觸發風控。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" sz="half"/>
          </p:nvPr>
        </p:nvSpPr>
        <p:spPr>
          <a:xfrm>
            <a:off x="7086600" y="1783080"/>
            <a:ext cx="4663440" cy="4389120"/>
          </a:xfrm>
        </p:spPr>
        <p:txBody>
          <a:bodyPr wrap="square"/>
          <a:lstStyle/>
          <a:p>
            <a:r>
              <a:rPr b="1" sz="1500"/>
              <a:t>AI 推高長端利率的兩個管道</a:t>
            </a:r>
          </a:p>
          <a:p>
            <a:pPr>
              <a:buFont typeface="+mj-lt"/>
              <a:buAutoNum type="arabicPeriod"/>
            </a:pPr>
            <a:r>
              <a:rPr b="1" sz="1500"/>
              <a:t>r* / 預期管道</a:t>
            </a:r>
            <a:r>
              <a:rPr sz="1500"/>
              <a:t>：投資需求大增，推高中性利率與政策利率預期</a:t>
            </a:r>
          </a:p>
          <a:p>
            <a:pPr>
              <a:buFont typeface="+mj-lt"/>
              <a:buAutoNum type="arabicPeriod"/>
            </a:pPr>
            <a:r>
              <a:rPr b="1" sz="1500"/>
              <a:t>TP 管道</a:t>
            </a:r>
            <a:r>
              <a:rPr sz="1500"/>
              <a:t>：capex 超過內部現金流的部分靠發債，長天期公司債與美債競爭同一批 duration 買家</a:t>
            </a:r>
          </a:p>
          <a:p>
            <a:r>
              <a:rPr b="1" sz="1500"/>
              <a:t>時間點</a:t>
            </a:r>
          </a:p>
          <a:p>
            <a:pPr marL="0" indent="0">
              <a:buNone/>
            </a:pPr>
            <a:r>
              <a:rPr sz="1500"/>
              <a:t>capex 增速 2026–27 年最高，AI 融資對長端的壓力可能在這兩年最大（深藍為高峰期）。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Hyperscaler capex 2026 年約 9,170 億美元，年增 99%；增速 2028 年降至 12%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192024"/>
            <a:ext cx="11329416" cy="548640"/>
          </a:xfrm>
        </p:spPr>
        <p:txBody>
          <a:bodyPr/>
          <a:lstStyle/>
          <a:p>
            <a:r>
              <a:t>AI 融資（1/2）：Capex 規模推升長端資本需求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737360"/>
          <a:ext cx="64008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" sz="half"/>
          </p:nvPr>
        </p:nvSpPr>
        <p:spPr>
          <a:xfrm>
            <a:off x="7360920" y="1783080"/>
            <a:ext cx="4389120" cy="4389120"/>
          </a:xfrm>
        </p:spPr>
        <p:txBody>
          <a:bodyPr wrap="square"/>
          <a:lstStyle/>
          <a:p>
            <a:pPr>
              <a:buFont typeface="+mj-lt"/>
              <a:buAutoNum type="arabicPeriod"/>
            </a:pPr>
            <a:r>
              <a:rPr b="1" sz="1400"/>
              <a:t>規模</a:t>
            </a:r>
            <a:r>
              <a:rPr sz="1400"/>
              <a:t>：一年 capex 約等於現有全部債務；兩份資料的公司名單不完全相同，只能當量級比較</a:t>
            </a:r>
          </a:p>
          <a:p>
            <a:pPr>
              <a:buFont typeface="+mj-lt"/>
              <a:buAutoNum type="arabicPeriod"/>
            </a:pPr>
            <a:r>
              <a:rPr b="1" sz="1400"/>
              <a:t>CDS 與評等脫鉤</a:t>
            </a:r>
            <a:r>
              <a:rPr sz="1400"/>
              <a:t>：Meta、Nvidia、Amazon、Alphabet 的 CDS 以其評等偏高；建議以同日 CDX IG 5Y 為基準比較</a:t>
            </a:r>
          </a:p>
          <a:p>
            <a:pPr>
              <a:buFont typeface="+mj-lt"/>
              <a:buAutoNum type="arabicPeriod"/>
            </a:pPr>
            <a:r>
              <a:rPr b="1" sz="1400"/>
              <a:t>Oracle 是弱點</a:t>
            </a:r>
            <a:r>
              <a:rPr sz="1400"/>
              <a:t>：投資級最後一階，CDS 已接近高收益債定價</a:t>
            </a:r>
          </a:p>
          <a:p>
            <a:pPr>
              <a:buFont typeface="+mj-lt"/>
              <a:buAutoNum type="arabicPeriod"/>
            </a:pPr>
            <a:r>
              <a:rPr b="1" sz="1400"/>
              <a:t>口徑提醒</a:t>
            </a:r>
            <a:r>
              <a:rPr sz="1400"/>
              <a:t>：Microsoft 885 億「有擔保」部分不像一般公司債，較像資料中心融資租賃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8 家主要公司債務＋租賃約 9,250 億美元，與一年 capex 相當；多家 CDS 以評等而言偏高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192024"/>
            <a:ext cx="11329416" cy="548640"/>
          </a:xfrm>
        </p:spPr>
        <p:txBody>
          <a:bodyPr/>
          <a:lstStyle/>
          <a:p>
            <a:r>
              <a:t>AI 融資（2/2）：信用市場已在替 AI 風險定價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783080"/>
          <a:ext cx="667512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0160"/>
                <a:gridCol w="1828800"/>
                <a:gridCol w="1188720"/>
                <a:gridCol w="1280160"/>
                <a:gridCol w="1097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公司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債務＋租賃（十億美元）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有擔保佔比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5Y CDS（bp）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評等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Oracle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83F0A"/>
                          </a:solidFill>
                        </a:rPr>
                        <a:t>170.9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83F0A"/>
                          </a:solidFill>
                        </a:rPr>
                        <a:t>26%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83F0A"/>
                          </a:solidFill>
                        </a:rPr>
                        <a:t>227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83F0A"/>
                          </a:solidFill>
                        </a:rPr>
                        <a:t>BBB−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Meta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112.7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25%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95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AA−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Nvidia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39.0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14%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AA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Amazon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252.4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43%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73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AA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Alphabet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122.2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17%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AA+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Microsoft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134.5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66%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52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AAA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CoreWeave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52.2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68%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SpaceX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41.0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36%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BBB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" sz="half"/>
          </p:nvPr>
        </p:nvSpPr>
        <p:spPr>
          <a:xfrm>
            <a:off x="6355080" y="1737360"/>
            <a:ext cx="5394960" cy="4480560"/>
          </a:xfrm>
        </p:spPr>
        <p:txBody>
          <a:bodyPr wrap="square"/>
          <a:lstStyle/>
          <a:p>
            <a:r>
              <a:rPr b="1" sz="1300"/>
              <a:t>股市：AI 敘事只撐住 Mag 7</a:t>
            </a:r>
          </a:p>
          <a:p>
            <a:pPr marL="0" indent="0">
              <a:buNone/>
            </a:pPr>
            <a:r>
              <a:rPr sz="1300"/>
              <a:t>對利率敏感的小型股、等權重指數已在跌；SOX 跌最多，可能反映市場開始擔心 AI 融資成本或投資報酬。</a:t>
            </a:r>
          </a:p>
          <a:p>
            <a:r>
              <a:rPr b="1" sz="1300"/>
              <a:t>去槓桿：風險低於 2025/4</a:t>
            </a:r>
          </a:p>
          <a:p>
            <a:pPr marL="0" indent="0">
              <a:buNone/>
            </a:pPr>
            <a:r>
              <a:rPr sz="1300"/>
              <a:t>eSLR 放寬後 Basis Trade 部位逐漸移往 G-SIBs，Repo 市場較不脆弱；此判斷尚缺部位數據佐證。</a:t>
            </a:r>
          </a:p>
          <a:p>
            <a:r>
              <a:rPr b="1" sz="1300"/>
              <a:t>可能把有序推向失序的觸發點</a:t>
            </a:r>
          </a:p>
          <a:p>
            <a:pPr>
              <a:buFont typeface="+mj-lt"/>
              <a:buAutoNum type="arabicPeriod"/>
            </a:pPr>
            <a:r>
              <a:rPr b="1" sz="1300"/>
              <a:t>Oracle 降至高收益級</a:t>
            </a:r>
            <a:r>
              <a:rPr sz="1300"/>
              <a:t>：被迫賣出、信用利差跳升；對美債 TP 的傳導是間接的</a:t>
            </a:r>
          </a:p>
          <a:p>
            <a:pPr>
              <a:buFont typeface="+mj-lt"/>
              <a:buAutoNum type="arabicPeriod"/>
            </a:pPr>
            <a:r>
              <a:rPr b="1" sz="1300"/>
              <a:t>CoreWeave 再融資</a:t>
            </a:r>
            <a:r>
              <a:rPr sz="1300"/>
              <a:t>：B 級、以 GPU 為抵押，抵押品折舊快</a:t>
            </a:r>
          </a:p>
          <a:p>
            <a:pPr>
              <a:buFont typeface="+mj-lt"/>
              <a:buAutoNum type="arabicPeriod"/>
            </a:pPr>
            <a:r>
              <a:rPr b="1" sz="1300"/>
              <a:t>AI 投資報酬受質疑</a:t>
            </a:r>
            <a:r>
              <a:rPr sz="1300"/>
              <a:t>：AI 發行人利差擴大，拖累 Mag 7 與長端供需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MOVE 上升反映長端 Buy Side 加碼避險；去槓桿風險低於 2025/4，壓力先到信用市場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192024"/>
            <a:ext cx="11329416" cy="548640"/>
          </a:xfrm>
        </p:spPr>
        <p:txBody>
          <a:bodyPr/>
          <a:lstStyle/>
          <a:p>
            <a:r>
              <a:t>風險意涵：指數穩、廣度弱、信用先承壓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737360"/>
          <a:ext cx="566928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用 Bloomberg 計算 RV、IV − RV 與事後 VRP，區分「TP 失序」與「單純補漲」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192024"/>
            <a:ext cx="11329416" cy="548640"/>
          </a:xfrm>
        </p:spPr>
        <p:txBody>
          <a:bodyPr/>
          <a:lstStyle/>
          <a:p>
            <a:r>
              <a:t>檢驗與情境：由 IV − RV 決定結論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83080"/>
            <a:ext cx="3931920" cy="27432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3611880" cy="411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sz="1800">
                <a:solidFill>
                  <a:srgbClr val="234976"/>
                </a:solidFill>
              </a:rPr>
              <a:t>三個要回答的問題</a:t>
            </a:r>
          </a:p>
          <a:p>
            <a:pPr algn="l"/>
            <a:r>
              <a:rPr sz="1400">
                <a:solidFill>
                  <a:srgbClr val="1F1F1F"/>
                </a:solidFill>
              </a:rPr>
              <a:t>1. 5–9 月 RV 到底高不高？IV − RV 是否真的被壓縮？</a:t>
            </a:r>
          </a:p>
          <a:p>
            <a:pPr algn="l"/>
            <a:r>
              <a:rPr sz="600">
                <a:solidFill>
                  <a:srgbClr val="1F1F1F"/>
                </a:solidFill>
              </a:rPr>
              <a:t/>
            </a:r>
          </a:p>
          <a:p>
            <a:pPr algn="l"/>
            <a:r>
              <a:rPr sz="1400">
                <a:solidFill>
                  <a:srgbClr val="1F1F1F"/>
                </a:solidFill>
              </a:rPr>
              <a:t>2. 9 月底到 10 月，IV 上升是在追 RV，還是明顯脫離 RV？</a:t>
            </a:r>
          </a:p>
          <a:p>
            <a:pPr algn="l"/>
            <a:r>
              <a:rPr sz="600">
                <a:solidFill>
                  <a:srgbClr val="1F1F1F"/>
                </a:solidFill>
              </a:rPr>
              <a:t/>
            </a:r>
          </a:p>
          <a:p>
            <a:pPr algn="l"/>
            <a:r>
              <a:rPr sz="1400">
                <a:solidFill>
                  <a:srgbClr val="1F1F1F"/>
                </a:solidFill>
              </a:rPr>
              <a:t>3. Payer Skew 是否同步變陡？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17720" y="1783080"/>
          <a:ext cx="7132320" cy="2880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/>
                <a:gridCol w="2103120"/>
                <a:gridCol w="1371600"/>
                <a:gridCol w="2194560"/>
              </a:tblGrid>
              <a:tr h="96012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情境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數據特徵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判斷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交易意涵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A：進入 TP 失序期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IV − RV 明顯擴大、Payer Skew 變陡、TP 加速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Regime Change 已發生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IV 易因恐慌避險偏貴；失序緩解後再評估系統性賣 Vol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B：只是補漲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IV 追上 RV、Skew 平穩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尚未失序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賣 Vol 的機會還沒到；追蹤 TP 上升速度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617720" y="4892040"/>
            <a:ext cx="71323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sz="1400">
                <a:solidFill>
                  <a:srgbClr val="E83F0A"/>
                </a:solidFill>
              </a:rPr>
              <a:t>兩種情境都要留意：</a:t>
            </a:r>
            <a:r>
              <a:rPr sz="1400">
                <a:solidFill>
                  <a:srgbClr val="1F1F1F"/>
                </a:solidFill>
              </a:rPr>
              <a:t>失序期的高 VRP 同時反映肥尾風險；賣 Vol 宜等失序緩解，並用價差限制最大損失。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追蹤 TP 的速度、IV − RV、Payer Skew 與 AI 發行人 CDS，判斷有序是否轉為失序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192024"/>
            <a:ext cx="11329416" cy="548640"/>
          </a:xfrm>
        </p:spPr>
        <p:txBody>
          <a:bodyPr/>
          <a:lstStyle/>
          <a:p>
            <a:r>
              <a:t>觀察指標與資料限制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783080"/>
          <a:ext cx="7315200" cy="409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/>
                <a:gridCol w="3566160"/>
                <a:gridCol w="237744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觀察面向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要看什麼</a:t>
                      </a:r>
                    </a:p>
                  </a:txBody>
                  <a:tcPr marL="73152" marR="73152" marT="27432" marB="27432" anchor="ctr">
                    <a:solidFill>
                      <a:srgbClr val="23497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TP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DKW（主）、Kim-Wright、ACM 10Y TP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上升速度是否加快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政策路徑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SOFR Futures / OIS 隱含路徑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是否維持震盪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Vol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MOVE、3m10y Swaption IV、IV − RV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VRP 是否擴大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右尾避險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Payer Swaption Skew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是否變陡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融資壓力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SOFR − IORB、Swap Spread、Futures Basis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是否出現壓力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信用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AI 發行人 5Y CDS vs CDX IG、IG / HY 利差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是否與 TP 同步走高</a:t>
                      </a:r>
                    </a:p>
                  </a:txBody>
                  <a:tcPr marL="73152" marR="73152" marT="27432" marB="27432" anchor="ctr"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F1F1F"/>
                          </a:solidFill>
                        </a:rPr>
                        <a:t>股市廣度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Russell 2000、等權重 S&amp;P 相對大盤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1F1F"/>
                          </a:solidFill>
                        </a:rPr>
                        <a:t>是否持續落後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001000" y="1783080"/>
            <a:ext cx="3749039" cy="27432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920240"/>
            <a:ext cx="3429000" cy="3931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sz="1800">
                <a:solidFill>
                  <a:srgbClr val="234976"/>
                </a:solidFill>
              </a:rPr>
              <a:t>資料限制</a:t>
            </a:r>
          </a:p>
          <a:p>
            <a:pPr algn="l"/>
            <a:r>
              <a:rPr sz="1300">
                <a:solidFill>
                  <a:srgbClr val="1F1F1F"/>
                </a:solidFill>
              </a:rPr>
              <a:t>• 美伊開戰、Warsh 升息、Bessent 擴大回購等事件與數字來自市況觀察原文，尚未獨立核實。</a:t>
            </a:r>
          </a:p>
          <a:p>
            <a:pPr algn="l"/>
            <a:r>
              <a:rPr sz="1300">
                <a:solidFill>
                  <a:srgbClr val="1F1F1F"/>
                </a:solidFill>
              </a:rPr>
              <a:t>• TP 為模型估計值，各模型常差 10–20 bp；CR 圖來源未註明，數字為目測。</a:t>
            </a:r>
          </a:p>
          <a:p>
            <a:pPr algn="l"/>
            <a:r>
              <a:rPr sz="1300">
                <a:solidFill>
                  <a:srgbClr val="1F1F1F"/>
                </a:solidFill>
              </a:rPr>
              <a:t>• DKW 每月更新，目前只到 8/31，不含 9 月。</a:t>
            </a:r>
          </a:p>
          <a:p>
            <a:pPr algn="l"/>
            <a:r>
              <a:rPr sz="1300">
                <a:solidFill>
                  <a:srgbClr val="1F1F1F"/>
                </a:solidFill>
              </a:rPr>
              <a:t>• CDS 表只有單一時點；「債務」可能含租賃。</a:t>
            </a:r>
          </a:p>
          <a:p>
            <a:pPr algn="l"/>
            <a:r>
              <a:rPr sz="1300">
                <a:solidFill>
                  <a:srgbClr val="1F1F1F"/>
                </a:solidFill>
              </a:rPr>
              <a:t>• IV − RV 檢驗尚未執行。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利率變動由政策預期主導時，選擇權買方不願多付保險費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192024"/>
            <a:ext cx="11329416" cy="548640"/>
          </a:xfrm>
        </p:spPr>
        <p:txBody>
          <a:bodyPr/>
          <a:lstStyle/>
          <a:p>
            <a:r>
              <a:t>附錄：框架基礎——預期主導時 VRP 萎縮的四個機制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83080"/>
            <a:ext cx="5486400" cy="17830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92807"/>
            <a:ext cx="512064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sz="1700">
                <a:solidFill>
                  <a:srgbClr val="234976"/>
                </a:solidFill>
              </a:rPr>
              <a:t>① 避險工具的替代性</a:t>
            </a:r>
          </a:p>
          <a:p>
            <a:pPr algn="l"/>
            <a:r>
              <a:rPr sz="1400">
                <a:solidFill>
                  <a:srgbClr val="1F1F1F"/>
                </a:solidFill>
              </a:rPr>
              <a:t>預期衝擊可用 SOFR / FF Futures、OIS、T-Bills 精準對沖 DV01，不必買選擇權；TP 衝擊伴隨做市商受限、Repo Haircut 加大，只能買 Deep OTM Payer，需求對價格不敏感。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783080"/>
            <a:ext cx="5486400" cy="17830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92807"/>
            <a:ext cx="512064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sz="1700">
                <a:solidFill>
                  <a:srgbClr val="234976"/>
                </a:solidFill>
              </a:rPr>
              <a:t>② RV 擠壓 IV − RV</a:t>
            </a:r>
          </a:p>
          <a:p>
            <a:pPr algn="l"/>
            <a:r>
              <a:rPr sz="1400">
                <a:solidFill>
                  <a:srgbClr val="1F1F1F"/>
                </a:solidFill>
              </a:rPr>
              <a:t>預期主導期數據公布常見跳空，RV 飆升、Short Gamma 損耗加大；IV 被 r*、Taylor Rule 錨定，加上 HF 系統性賣 Vol，VRP 縮水、Sell Vol Flow 退場。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794760"/>
            <a:ext cx="5486400" cy="17830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904488"/>
            <a:ext cx="512064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sz="1700">
                <a:solidFill>
                  <a:srgbClr val="234976"/>
                </a:solidFill>
              </a:rPr>
              <a:t>③ 分佈特徵</a:t>
            </a:r>
          </a:p>
          <a:p>
            <a:pPr algn="l"/>
            <a:r>
              <a:rPr sz="1400">
                <a:solidFill>
                  <a:srgbClr val="1F1F1F"/>
                </a:solidFill>
              </a:rPr>
              <a:t>預期衝擊會均值回歸：升息到一定高度，市場自行定價經濟降溫。TP 衝擊沒有天然煞車，保證金追繳 → 拋售 → 波動上升 → VaR 觸發 → 再拋售。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794760"/>
            <a:ext cx="5486400" cy="17830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904488"/>
            <a:ext cx="512064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sz="1700">
                <a:solidFill>
                  <a:srgbClr val="234976"/>
                </a:solidFill>
              </a:rPr>
              <a:t>④ 交易者結構</a:t>
            </a:r>
          </a:p>
          <a:p>
            <a:pPr algn="l"/>
            <a:r>
              <a:rPr sz="1400">
                <a:solidFill>
                  <a:srgbClr val="1F1F1F"/>
                </a:solidFill>
              </a:rPr>
              <a:t>預期主導時以宏觀 HF、RV 基金、量化為主，IV 稍貴就賣；TP 主導時買方多受資本適足率、償付能力或 ALM 約束，重合規而非獲利，願接受更高 VRP。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06364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3">
  <a:themeElements>
    <a:clrScheme name="品牌顏色v4">
      <a:dk1>
        <a:srgbClr val="000000"/>
      </a:dk1>
      <a:lt1>
        <a:srgbClr val="FFFFFF"/>
      </a:lt1>
      <a:dk2>
        <a:srgbClr val="234976"/>
      </a:dk2>
      <a:lt2>
        <a:srgbClr val="FFFAF6"/>
      </a:lt2>
      <a:accent1>
        <a:srgbClr val="0065B2"/>
      </a:accent1>
      <a:accent2>
        <a:srgbClr val="FFAF78"/>
      </a:accent2>
      <a:accent3>
        <a:srgbClr val="E83F0A"/>
      </a:accent3>
      <a:accent4>
        <a:srgbClr val="A36C14"/>
      </a:accent4>
      <a:accent5>
        <a:srgbClr val="4DB848"/>
      </a:accent5>
      <a:accent6>
        <a:srgbClr val="713C93"/>
      </a:accent6>
      <a:hlink>
        <a:srgbClr val="2DB7FF"/>
      </a:hlink>
      <a:folHlink>
        <a:srgbClr val="954F72"/>
      </a:folHlink>
    </a:clrScheme>
    <a:fontScheme name="KGI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3" id="{99230912-EC4A-D44D-8896-138DCE89FCDF}" vid="{1C06976D-9AC1-B042-81C6-58295AD82A4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1360C6CCFF5A42BE2217CAE4812773" ma:contentTypeVersion="17" ma:contentTypeDescription="Create a new document." ma:contentTypeScope="" ma:versionID="106305f8038346a9e7b20d6b55fd290f">
  <xsd:schema xmlns:xsd="http://www.w3.org/2001/XMLSchema" xmlns:xs="http://www.w3.org/2001/XMLSchema" xmlns:p="http://schemas.microsoft.com/office/2006/metadata/properties" xmlns:ns3="f037563e-43bd-494c-b488-a46eea011db2" xmlns:ns4="77fc565e-dc3a-4332-ae64-7f55681cb985" targetNamespace="http://schemas.microsoft.com/office/2006/metadata/properties" ma:root="true" ma:fieldsID="4aaa86d2de3b3f99602aea57602a7955" ns3:_="" ns4:_="">
    <xsd:import namespace="f037563e-43bd-494c-b488-a46eea011db2"/>
    <xsd:import namespace="77fc565e-dc3a-4332-ae64-7f55681cb98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LengthInSecond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37563e-43bd-494c-b488-a46eea011db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c565e-dc3a-4332-ae64-7f55681cb9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7fc565e-dc3a-4332-ae64-7f55681cb985" xsi:nil="true"/>
  </documentManagement>
</p:properties>
</file>

<file path=customXml/itemProps1.xml><?xml version="1.0" encoding="utf-8"?>
<ds:datastoreItem xmlns:ds="http://schemas.openxmlformats.org/officeDocument/2006/customXml" ds:itemID="{76461243-F3F5-4F11-8731-E8F807F152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CBE13B-F6A0-4C91-898A-0F7F56A9698E}">
  <ds:schemaRefs>
    <ds:schemaRef ds:uri="77fc565e-dc3a-4332-ae64-7f55681cb985"/>
    <ds:schemaRef ds:uri="f037563e-43bd-494c-b488-a46eea011d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E849499-8924-4217-B474-9C125CE23669}">
  <ds:schemaRefs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7fc565e-dc3a-4332-ae64-7f55681cb985"/>
    <ds:schemaRef ds:uri="f037563e-43bd-494c-b488-a46eea011db2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證券_藍_簡報模板（Final）</Template>
  <TotalTime>93064</TotalTime>
  <Words>682</Words>
  <Application>Microsoft Office PowerPoint</Application>
  <PresentationFormat>寬螢幕</PresentationFormat>
  <Paragraphs>43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5" baseType="lpstr">
      <vt:lpstr>思源黑體</vt:lpstr>
      <vt:lpstr>微軟正黑體</vt:lpstr>
      <vt:lpstr>Arial</vt:lpstr>
      <vt:lpstr>Calibri</vt:lpstr>
      <vt:lpstr>Montserrat</vt:lpstr>
      <vt:lpstr>Symbol</vt:lpstr>
      <vt:lpstr>Times New Roman</vt:lpstr>
      <vt:lpstr>Wingdings</vt:lpstr>
      <vt:lpstr>佈景主題3</vt:lpstr>
      <vt:lpstr>基於多模型共識記憶遞延機制之 全球多資產新聞驅動 AI Agent</vt:lpstr>
      <vt:lpstr>PowerPoint 簡報</vt:lpstr>
      <vt:lpstr>全球資產行情與即時新聞的資料處理、智能分析與自動推播</vt:lpstr>
      <vt:lpstr>PowerPoint 簡報</vt:lpstr>
      <vt:lpstr>PowerPoint 簡報</vt:lpstr>
      <vt:lpstr>PowerPoint 簡報</vt:lpstr>
    </vt:vector>
  </TitlesOfParts>
  <Company>KGI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林佳蓁JoyceLin-PR-KGISEC</dc:creator>
  <cp:lastModifiedBy>彥庭 李</cp:lastModifiedBy>
  <cp:revision>177</cp:revision>
  <cp:lastPrinted>2026-04-24T06:52:18Z</cp:lastPrinted>
  <dcterms:created xsi:type="dcterms:W3CDTF">2025-04-01T01:37:12Z</dcterms:created>
  <dcterms:modified xsi:type="dcterms:W3CDTF">2026-04-25T11:02:09Z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0x010100621360C6CCFF5A42BE2217CAE4812773</vt:lpwstr>
  </property>
</Properties>
</file>