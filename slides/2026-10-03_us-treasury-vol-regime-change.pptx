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8" r:id="rId9"/>
    <p:sldId id="879" r:id="rId8"/>
    <p:sldId id="880" r:id="rId7"/>
    <p:sldId id="881" r:id="rId6"/>
    <p:sldId id="882" r:id="rId16"/>
    <p:sldId id="883" r:id="rId17"/>
    <p:sldId id="884" r:id="rId18"/>
    <p:sldId id="885" r:id="rId19"/>
    <p:sldId id="886" r:id="rId20"/>
    <p:sldId id="887" r:id="rId21"/>
    <p:sldId id="888" r:id="rId22"/>
    <p:sldId id="889" r:id="rId23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4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核心訊息：市場說這輪拋售不是 TP，但 Kim-Wright 顯示 TP 今年以來約 +45 bp。TP 有序緩升不會推高 IV，失序才會。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bp。原文用實質利率貢獻 120 bp 推論不是 TP，在 DKW 下站不住。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從預期主導到 TP 失序：MOVE 110 的訊號與 AI 融資風險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2026.10.03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46120"/>
            <a:ext cx="11338560" cy="30175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500"/>
              <a:t>TP 的角色被低估</a:t>
            </a:r>
            <a:r>
              <a:rPr sz="1500"/>
              <a:t>：依 DKW，10Y 今年到 8 月的上升約三成五來自 TP，「實質利率」上升裡近四成是實質 TP；只是過程有序，沒有觸發恐慌性凸性避險，IV 因此停在低檔</a:t>
            </a:r>
          </a:p>
          <a:p>
            <a:pPr>
              <a:buFont typeface="+mj-lt"/>
              <a:buAutoNum type="arabicPeriod"/>
            </a:pPr>
            <a:r>
              <a:rPr b="1" sz="1500"/>
              <a:t>AI 融資是 TP 推手之一</a:t>
            </a:r>
            <a:r>
              <a:rPr sz="1500"/>
              <a:t>：2026 年 hyperscaler capex 約 9,170 億美元，與 8 家主要公司現有債務＋租賃（約 9,250 億）相當；AI 發行人 CDS 以評等而言偏高</a:t>
            </a:r>
          </a:p>
          <a:p>
            <a:pPr>
              <a:buFont typeface="+mj-lt"/>
              <a:buAutoNum type="arabicPeriod"/>
            </a:pPr>
            <a:r>
              <a:rPr b="1" sz="1500"/>
              <a:t>壓力先在信用，不在指數</a:t>
            </a:r>
            <a:r>
              <a:rPr sz="1500"/>
              <a:t>：9 月上半 Mag 7 +1.3%，等權重 S&amp;P −2.6%、Russell 2000 −2.9%；去槓桿風險低於 2025/4，但信用 Buffer 正在變薄</a:t>
            </a:r>
          </a:p>
          <a:p>
            <a:pPr>
              <a:buFont typeface="+mj-lt"/>
              <a:buAutoNum type="arabicPeriod"/>
            </a:pPr>
            <a:r>
              <a:rPr b="1" sz="1500"/>
              <a:t>結論待一項數據定案</a:t>
            </a:r>
            <a:r>
              <a:rPr sz="1500"/>
              <a:t>：近期 IV − RV 若明顯擴大 → 已進入 TP 失序期；若只是 IV 追上 RV → MOVE 上升只是補漲，賣 Vol 的機會還沒到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TP 從 7 月就在上升，Vol 直到 10 月初才定價；關鍵在 TP 的上升是否失序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摘要：TP 已回來，Vol 才剛開始定價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MOVE（10/1），2025/4 高點為 140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70–80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3m10y Swaption IV（bp/y，2026/5–9）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227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Oracle 5Y CDS（BBB−）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創 2002 年來新高，但 5–9 月 Swaption IV 停在歷史低檔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市況：殖利率創高，Vol 慢一拍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03504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1737360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5.34%（10/1 盤中）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2002 年以來最高；2026/5 約 4.3%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累計漲幅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+130 bp 以上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美伊開戰以來；9 月單月約 +60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110（10/1）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接近 2026/3 月底高點；2025/4 為 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3m10y Swaption IV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70–80 bp/y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2026/5–9，歷史低檔區間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66560" y="1783080"/>
            <a:ext cx="4983480" cy="2880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920240"/>
            <a:ext cx="4663440" cy="4023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異常在哪裡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5–9 月 10Y 上升約 100 bp，IV 卻沒有跟著擴張。傳統邏輯認為利率越高，終端利率與財政可持續性越不確定，波動度應同步上升。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234976"/>
                </a:solidFill>
              </a:rPr>
              <a:t>但不一定矛盾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波動度衡量震盪幅度，不是方向。70–80 bp/y 約等於每天 4–5 bp；100 bp 若在 5 個月內緩慢走高，只是約 2 個標準差的漂移，每日 RV 可以很低。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拆解：預期是主力，但 TP 的貢獻被低估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月起持續上升，不是 9 月底才反彈。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的預期，原文說的主力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39%，原文的拆法看不到這一塊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預期通膨今年到 8 月 +12 bp；DKW 尚未涵蓋 9 月升息後的變化。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2918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我們的修正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上升約 20 bp，IV 並未跟上。真正推高 VRP 的是失序特徵：做市商資產負債表受限、Repo Haircut 加大、股債負相關失靈、保證金追繳引發拋售循環。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必須排除的替代解釋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MOVE 現在才升，可能只是 IV 落後 RV 在補漲、賣 Vol 部位回補，或殖利率突破 5% 觸發風控。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AI 推高長端利率的兩個管道</a:t>
            </a:r>
          </a:p>
          <a:p>
            <a:pPr>
              <a:buFont typeface="+mj-lt"/>
              <a:buAutoNum type="arabicPeriod"/>
            </a:pPr>
            <a:r>
              <a:rPr b="1" sz="1500"/>
              <a:t>r* / 預期管道</a:t>
            </a:r>
            <a:r>
              <a:rPr sz="1500"/>
              <a:t>：投資需求大增，推高中性利率與政策利率預期</a:t>
            </a:r>
          </a:p>
          <a:p>
            <a:pPr>
              <a:buFont typeface="+mj-lt"/>
              <a:buAutoNum type="arabicPeriod"/>
            </a:pPr>
            <a:r>
              <a:rPr b="1" sz="1500"/>
              <a:t>TP 管道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融資（1/2）：Capex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融資（2/2）：信用市場已在替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300"/>
              <a:t>股市：AI 敘事只撐住 Mag 7</a:t>
            </a:r>
          </a:p>
          <a:p>
            <a:pPr marL="0" indent="0">
              <a:buNone/>
            </a:pPr>
            <a:r>
              <a:rPr sz="1300"/>
              <a:t>對利率敏感的小型股、等權重指數已在跌；SOX 跌最多，可能反映市場開始擔心 AI 融資成本或投資報酬。</a:t>
            </a:r>
          </a:p>
          <a:p>
            <a:r>
              <a:rPr b="1" sz="1300"/>
              <a:t>去槓桿：風險低於 2025/4</a:t>
            </a:r>
          </a:p>
          <a:p>
            <a:pPr marL="0" indent="0">
              <a:buNone/>
            </a:pPr>
            <a:r>
              <a:rPr sz="1300"/>
              <a:t>eSLR 放寬後 Basis Trade 部位逐漸移往 G-SIBs，Repo 市場較不脆弱；此判斷尚缺部位數據佐證。</a:t>
            </a:r>
          </a:p>
          <a:p>
            <a:r>
              <a:rPr b="1" sz="13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300"/>
              <a:t>Oracle 降至高收益級</a:t>
            </a:r>
            <a:r>
              <a:rPr sz="1300"/>
              <a:t>：被迫賣出、信用利差跳升；對美債 TP 的傳導是間接的</a:t>
            </a:r>
          </a:p>
          <a:p>
            <a:pPr>
              <a:buFont typeface="+mj-lt"/>
              <a:buAutoNum type="arabicPeriod"/>
            </a:pPr>
            <a:r>
              <a:rPr b="1" sz="1300"/>
              <a:t>CoreWeave 再融資</a:t>
            </a:r>
            <a:r>
              <a:rPr sz="1300"/>
              <a:t>：B 級、以 GPU 為抵押，抵押品折舊快</a:t>
            </a:r>
          </a:p>
          <a:p>
            <a:pPr>
              <a:buFont typeface="+mj-lt"/>
              <a:buAutoNum type="arabicPeriod"/>
            </a:pPr>
            <a:r>
              <a:rPr b="1" sz="1300"/>
              <a:t>AI 投資報酬受質疑</a:t>
            </a:r>
            <a:r>
              <a:rPr sz="13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用 Bloomberg 計算 RV、IV − RV 與事後 VRP，區分「TP 失序」與「單純補漲」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檢驗與情境：由 IV − RV 決定結論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3931920" cy="2743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20240"/>
            <a:ext cx="361188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三個要回答的問題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1. 5–9 月 RV 到底高不高？IV − RV 是否真的被壓縮？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2. 9 月底到 10 月，IV 上升是在追 RV，還是明顯脫離 RV？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3. Payer Skew 是否同步變陡？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17720" y="1783080"/>
          <a:ext cx="7132320" cy="288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040"/>
                <a:gridCol w="2103120"/>
                <a:gridCol w="1371600"/>
                <a:gridCol w="2194560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數據特徵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A：進入 TP 失序期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明顯擴大、Payer Skew 變陡、TP 加速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Regime Change 已發生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易因恐慌避險偏貴；失序緩解後再評估系統性賣 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B：只是補漲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追上 RV、Skew 平穩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尚未失序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的機會還沒到；追蹤 TP 上升速度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617720" y="4892040"/>
            <a:ext cx="71323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兩種情境都要留意：</a:t>
            </a:r>
            <a:r>
              <a:rPr sz="1400">
                <a:solidFill>
                  <a:srgbClr val="1F1F1F"/>
                </a:solidFill>
              </a:rPr>
              <a:t>TP 主導期的高 VRP 可能是對肥尾風險的合理補償，而不是「偏貴」；在自我強化的環境系統性賣 Vol，風險不對稱。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 AI 發行人 CDS，判斷有序是否轉為失序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3566160"/>
                <a:gridCol w="23774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DKW（主）、Kim-Wright、ACM 10Y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SOFR Futures / OIS 隱含路徑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是否維持震盪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MOVE、3m10y Swaption IV、IV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VRP 是否擴大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SOFR − IORB、Swap Spread、Futures Basis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AI 發行人 5Y CDS vs CDX IG、IG / HY 利差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是否與 TP 同步走高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Russell 2000、等權重 S&amp;P 相對大盤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001000" y="1783080"/>
            <a:ext cx="3749039" cy="2743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920240"/>
            <a:ext cx="34290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美伊開戰、Warsh 升息、Bessent 擴大回購等事件與數字來自市況觀察原文，尚未獨立核實。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TP 為模型估計值，各模型常差 10–20 bp；CR 圖來源未註明，數字為目測。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DKW 每月更新，目前只到 8/31，不含 9 月。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CDS 表只有單一時點；「債務」可能含租賃。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IV − RV 檢驗尚未執行。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原文以四個機制解釋：利率變動由政策預期主導時，選擇權買方不願多付保險費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 A：原文論點——預期主導時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原文適合當作值得驗證的假說；部分論點與 DKW、Kim-Wright 數據不一致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 B：原文評估——框架合理，推論跳得快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66160"/>
                <a:gridCol w="1463040"/>
                <a:gridCol w="63093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原文論點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評估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預期衝擊與 TP 衝擊的 VRP 不同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合理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線性工具 vs 凸性需求的區分，在實務與學術上都站得住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本輪拋售不是 TP，而是實質利率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不成立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DKW：實質部分 +42 bp 中實質 TP 約 +16 bp（近四成）；Kim-Wright TP 至 9/25 約 +45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 最近才反彈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不精確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DKW、Kim-Wright、CR 都顯示 TP 從 7 月起持續上升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IV 有宏觀錨定上限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存疑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是市場價格；r* 約束利率水準，不約束 3 個月內的波動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 主導期是賣 Vol 的較佳窗口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風險不對稱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肥尾環境下的高 VRP 可能是合理補償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eSLR 放寬後去槓桿風險下降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方向合理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缺部位數據；2025/4 主因是否為 Basis Trade 當時就有爭議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