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9" r:id="rId8"/>
    <p:sldId id="880" r:id="rId7"/>
    <p:sldId id="878" r:id="rId9"/>
    <p:sldId id="882" r:id="rId16"/>
    <p:sldId id="883" r:id="rId17"/>
    <p:sldId id="884" r:id="rId18"/>
    <p:sldId id="885" r:id="rId19"/>
    <p:sldId id="881" r:id="rId6"/>
    <p:sldId id="889" r:id="rId23"/>
    <p:sldId id="890" r:id="rId24"/>
    <p:sldId id="886" r:id="rId20"/>
    <p:sldId id="887" r:id="rId21"/>
    <p:sldId id="888" r:id="rId22"/>
    <p:sldId id="891" r:id="rId25"/>
    <p:sldId id="892" r:id="rId26"/>
    <p:sldId id="893" r:id="rId27"/>
    <p:sldId id="894" r:id="rId28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9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1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10Y 變動 ＝ TIPS（實質利率）＋ BEI（通膨預期）（bp）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10Y TIPS（實質利率）</c:v>
                </c:pt>
              </c:strCache>
            </c:strRef>
          </c:tx>
          <c:spPr>
            <a:solidFill>
              <a:srgbClr val="23497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100.7</c:v>
                </c:pt>
                <c:pt idx="1">
                  <c:v>123.3</c:v>
                </c:pt>
                <c:pt idx="2">
                  <c:v>48.6</c:v>
                </c:pt>
                <c:pt idx="3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BEI（通膨預期）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11.8</c:v>
                </c:pt>
                <c:pt idx="1">
                  <c:v>11.3</c:v>
                </c:pt>
                <c:pt idx="2">
                  <c:v>5.0</c:v>
                </c:pt>
                <c:pt idx="3">
                  <c:v>-1.9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.0"/>
          <c:min val="-2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DKW 10Y 各成分變動（bp）：7 月以來實質 TP 大於預期實質短率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年底 → 8/31</c:v>
                </c:pt>
              </c:strCache>
            </c:strRef>
          </c:tx>
          <c:spPr>
            <a:solidFill>
              <a:srgbClr val="234976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16.2</c:v>
                </c:pt>
                <c:pt idx="2">
                  <c:v>12.0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6/30 → 8/31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10.4</c:v>
                </c:pt>
                <c:pt idx="1">
                  <c:v>12.6</c:v>
                </c:pt>
                <c:pt idx="2">
                  <c:v>7.9</c:v>
                </c:pt>
                <c:pt idx="3">
                  <c:v>3.0</c:v>
                </c:pt>
              </c:numCache>
            </c:numRef>
          </c:val>
        </c:ser>
        <c:dLbls>
          <c:numFmt formatCode="+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殖利率變動（bp）：第一階段短端領漲，第二階段長端領漲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第一階段 9/1–9/22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26.8</c:v>
                </c:pt>
                <c:pt idx="1">
                  <c:v>41.2</c:v>
                </c:pt>
                <c:pt idx="2">
                  <c:v>33.6</c:v>
                </c:pt>
                <c:pt idx="3">
                  <c:v>21.1</c:v>
                </c:pt>
                <c:pt idx="4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第二階段 9/23–10/1</c:v>
                </c:pt>
              </c:strCache>
            </c:strRef>
          </c:tx>
          <c:spPr>
            <a:solidFill>
              <a:srgbClr val="0065B2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-1.4</c:v>
                </c:pt>
                <c:pt idx="1">
                  <c:v>3.8</c:v>
                </c:pt>
                <c:pt idx="2">
                  <c:v>17.4</c:v>
                </c:pt>
                <c:pt idx="3">
                  <c:v>27.9</c:v>
                </c:pt>
                <c:pt idx="4">
                  <c:v>31.3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-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MOVE 與 10Y 實際波動（bp/y，2026 年每週五）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MOVE（隱含波動）</c:v>
                </c:pt>
              </c:strCache>
            </c:strRef>
          </c:tx>
          <c:spPr>
            <a:ln w="34925">
              <a:solidFill>
                <a:srgbClr val="0065B2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65B2"/>
                        </a:solidFill>
                      </a:rPr>
                      <a:t>107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62.36</c:v>
                </c:pt>
                <c:pt idx="1">
                  <c:v>61.55</c:v>
                </c:pt>
                <c:pt idx="2">
                  <c:v>58.05</c:v>
                </c:pt>
                <c:pt idx="3">
                  <c:v>56.25</c:v>
                </c:pt>
                <c:pt idx="4">
                  <c:v>59.2</c:v>
                </c:pt>
                <c:pt idx="5">
                  <c:v>63.62</c:v>
                </c:pt>
                <c:pt idx="6">
                  <c:v>70.1</c:v>
                </c:pt>
                <c:pt idx="7">
                  <c:v>64.27</c:v>
                </c:pt>
                <c:pt idx="8">
                  <c:v>73.38</c:v>
                </c:pt>
                <c:pt idx="9">
                  <c:v>81.26</c:v>
                </c:pt>
                <c:pt idx="10">
                  <c:v>91.17</c:v>
                </c:pt>
                <c:pt idx="11">
                  <c:v>108.84</c:v>
                </c:pt>
                <c:pt idx="12">
                  <c:v>111.95</c:v>
                </c:pt>
                <c:pt idx="13">
                  <c:v>81.78</c:v>
                </c:pt>
                <c:pt idx="14">
                  <c:v>72.15</c:v>
                </c:pt>
                <c:pt idx="15">
                  <c:v>65.7</c:v>
                </c:pt>
                <c:pt idx="16">
                  <c:v>66.97</c:v>
                </c:pt>
                <c:pt idx="17">
                  <c:v>70.41</c:v>
                </c:pt>
                <c:pt idx="18">
                  <c:v>67.25</c:v>
                </c:pt>
                <c:pt idx="19">
                  <c:v>79.87</c:v>
                </c:pt>
                <c:pt idx="20">
                  <c:v>78.43</c:v>
                </c:pt>
                <c:pt idx="21">
                  <c:v>70.22</c:v>
                </c:pt>
                <c:pt idx="22">
                  <c:v>75.2</c:v>
                </c:pt>
                <c:pt idx="23">
                  <c:v>69.36</c:v>
                </c:pt>
                <c:pt idx="24">
                  <c:v>65.39</c:v>
                </c:pt>
                <c:pt idx="25">
                  <c:v>66.79</c:v>
                </c:pt>
                <c:pt idx="26">
                  <c:v>65.4</c:v>
                </c:pt>
                <c:pt idx="27">
                  <c:v>69.55</c:v>
                </c:pt>
                <c:pt idx="28">
                  <c:v>70.88</c:v>
                </c:pt>
                <c:pt idx="29">
                  <c:v>76.82</c:v>
                </c:pt>
                <c:pt idx="30">
                  <c:v>83.02</c:v>
                </c:pt>
                <c:pt idx="31">
                  <c:v>72.03</c:v>
                </c:pt>
                <c:pt idx="32">
                  <c:v>69.58</c:v>
                </c:pt>
                <c:pt idx="33">
                  <c:v>73.4</c:v>
                </c:pt>
                <c:pt idx="34">
                  <c:v>70.97</c:v>
                </c:pt>
                <c:pt idx="35">
                  <c:v>73.1</c:v>
                </c:pt>
                <c:pt idx="36">
                  <c:v>82.21</c:v>
                </c:pt>
                <c:pt idx="37">
                  <c:v>80.64</c:v>
                </c:pt>
                <c:pt idx="38">
                  <c:v>96.0</c:v>
                </c:pt>
                <c:pt idx="39">
                  <c:v>107.29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實際波動（21 日）</c:v>
                </c:pt>
              </c:strCache>
            </c:strRef>
          </c:tx>
          <c:spPr>
            <a:ln w="25400">
              <a:solidFill>
                <a:srgbClr val="8C96A0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8C96A0"/>
                        </a:solidFill>
                      </a:rPr>
                      <a:t>92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41.41</c:v>
                </c:pt>
                <c:pt idx="1">
                  <c:v>37.6</c:v>
                </c:pt>
                <c:pt idx="2">
                  <c:v>43.74</c:v>
                </c:pt>
                <c:pt idx="3">
                  <c:v>51.56</c:v>
                </c:pt>
                <c:pt idx="4">
                  <c:v>50.26</c:v>
                </c:pt>
                <c:pt idx="5">
                  <c:v>61.44</c:v>
                </c:pt>
                <c:pt idx="6">
                  <c:v>69.95</c:v>
                </c:pt>
                <c:pt idx="7">
                  <c:v>59.56</c:v>
                </c:pt>
                <c:pt idx="8">
                  <c:v>63.69</c:v>
                </c:pt>
                <c:pt idx="9">
                  <c:v>70.16</c:v>
                </c:pt>
                <c:pt idx="10">
                  <c:v>70.12</c:v>
                </c:pt>
                <c:pt idx="11">
                  <c:v>84.17</c:v>
                </c:pt>
                <c:pt idx="12">
                  <c:v>83.77</c:v>
                </c:pt>
                <c:pt idx="13">
                  <c:v>82.2</c:v>
                </c:pt>
                <c:pt idx="14">
                  <c:v>77.05</c:v>
                </c:pt>
                <c:pt idx="15">
                  <c:v>76.96</c:v>
                </c:pt>
                <c:pt idx="16">
                  <c:v>54.34</c:v>
                </c:pt>
                <c:pt idx="17">
                  <c:v>59.6</c:v>
                </c:pt>
                <c:pt idx="18">
                  <c:v>69.19</c:v>
                </c:pt>
                <c:pt idx="19">
                  <c:v>76.78</c:v>
                </c:pt>
                <c:pt idx="20">
                  <c:v>83.18</c:v>
                </c:pt>
                <c:pt idx="21">
                  <c:v>82.52</c:v>
                </c:pt>
                <c:pt idx="22">
                  <c:v>77.6</c:v>
                </c:pt>
                <c:pt idx="23">
                  <c:v>83.26</c:v>
                </c:pt>
                <c:pt idx="24">
                  <c:v>65.41</c:v>
                </c:pt>
                <c:pt idx="25">
                  <c:v>73.83</c:v>
                </c:pt>
                <c:pt idx="26">
                  <c:v>80.84</c:v>
                </c:pt>
                <c:pt idx="27">
                  <c:v>73.16</c:v>
                </c:pt>
                <c:pt idx="28">
                  <c:v>75.28</c:v>
                </c:pt>
                <c:pt idx="29">
                  <c:v>58.97</c:v>
                </c:pt>
                <c:pt idx="30">
                  <c:v>62.58</c:v>
                </c:pt>
                <c:pt idx="31">
                  <c:v>67.86</c:v>
                </c:pt>
                <c:pt idx="32">
                  <c:v>69.29</c:v>
                </c:pt>
                <c:pt idx="33">
                  <c:v>72.86</c:v>
                </c:pt>
                <c:pt idx="34">
                  <c:v>73.67</c:v>
                </c:pt>
                <c:pt idx="35">
                  <c:v>62.72</c:v>
                </c:pt>
                <c:pt idx="36">
                  <c:v>69.6</c:v>
                </c:pt>
                <c:pt idx="37">
                  <c:v>73.84</c:v>
                </c:pt>
                <c:pt idx="38">
                  <c:v>88.84</c:v>
                </c:pt>
                <c:pt idx="39">
                  <c:v>92.11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6"/>
        <c:tickMarkSkip val="6"/>
      </c:catAx>
      <c:valAx>
        <c:axId val="2140495176"/>
        <c:scaling>
          <c:max val="120.0"/>
          <c:min val="3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3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核心訊息：延伸原文的預期 vs TP 框架並用市場資料驗證。9 月分成兩段：9/22 以前是預期主導的熊市變平，9/23 起是 TP 主導的熊市變陡，MOVE、TP、HY 利差同時跳升。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動機：美伊開戰以來 10Y 從 3.94% 漲到 9/30 的 5.28%，但 5–8 月 MOVE 平均只有 73，約為歷史中位數，因為上漲是緩慢推進（10Y 每天平均只動 3.7 bp）。MOVE 到 9/23 之後才跳升。這份報告要回答三個問題：誰推升了殖利率、為什麼 Vol 這麼晚才反應、現在是補漲還是失序。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承接背景頁：市場熱烈討論的兩個說法（能源衝擊讓通膨預期脫錨、政府發債推升財政溢價）都和數據不符。殖利率上升幾乎全來自實質利率，原文認為主因是政策利率預期上修，以及 AI 投資競逐長期資本，而後者又會推升前者。延伸來看，DKW 顯示實質利率裡近四成是實質 TP，這也是後面要討論 AI 融資的原因。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論述：數據顯示上升的是實質利率而不是通膨預期，DKW 又把實質利率拆成預期實質短率與實質 TP。AI 融資剛好同時對應這兩塊：資本支出推高中性利率，大量發債增加長天期供給。信用管道則說明 AI 融資也可能是有序變失序的觸發點。目前證據是形狀吻合，還不是因果證明，需要補發債時程與 AI 發行人 CDS 的時間序列。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模型把長天期殖利率拆成「市場預期的未來短率平均」與「期限溢酬」。預期看不到，只能靠模型估計，所以不同模型的 TP 常差 10–20 bp。Kim-Wright 是三因子無套利仿射模型，只用名目公債與短率調查；DKW 用同樣的架構同時為名目公債與 TIPS 定價，加入通膨資料、通膨調查與 TIPS 流動性因子，因此能把實質利率與通膨拆開。DKW 的四個成分加總等於模型配適的名目殖利率，在 Fed 公布的資料中精確成立。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DKW 把名目殖利率拆成四塊。實質部分（預期實質短率＋實質 TP）約 +42 bp，其中實質 TP 約 16 bp。進一步拆開實質利率，能看出期限溢酬的份量。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第一階段：短端領漲，符合升息預期重定價；Vol 與信用平靜。第二階段：短端不動、長端大跌，曲線轉陡，MOVE、TP、HY 利差同時跳升，就是原文說的 regime change，而且有明確日期。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跳升主要是實際波動上升（補漲），但 IV − RV 也從 +4 擴大到 +15，落在歷史第 86 百分位。開戰衝擊與 2025/4 關稅衝擊時約 +28～+29（第 95 百分位），所以目前算初期失序。另外，5–8 月 MOVE 低是因為實際波動也低（IV − RV ≈ 0），只有 5 月底到 7 月初 IV 落後實際波動約 7 bp。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9/23 起從預期主導轉向 TP 主導：MOVE 跳升與信用風險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2026.10.05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殖利率從 2 月低點上漲 135 bp，MOVE 直到 9/23 之後才從 79 跳到 110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市況背景：10Y 創新高，Vol 卻到 9 月底才反應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766560" cy="39502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49377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現況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殖利率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收 5.28%（今年最高收盤）；10/1 盤中一度 5.34%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開戰以來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2/27 低點 3.94% → 9/30 +135 bp；9 月單月 +54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MOVE（5–8 月）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平均 73（65–86），約為 2017–2025 年中位數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MOVE（9 月底）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9/22 79 → 9/30 110；3 月高點 115，2025/4 為 140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政策與事件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美伊開戰、Warsh 9 月升息、Bessent 擴大公債回購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52360" y="1783080"/>
            <a:ext cx="4297680" cy="39319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920240"/>
            <a:ext cx="3977639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本報告要回答的三個問題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1. 是什麼推升了殖利率：預期還是 TP？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5–11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2. 為什麼 Vol 到 9 月底才反應？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12–14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3. 現在是補漲還是失序？交易上怎麼看？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15–16 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不是通膨預期脫錨、也不是發債推升的財政溢價；是實質利率急升（開戰以來 TIPS +123 bp）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本輪拋售的驅動：「不是什麼」vs.「是什麼」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035039" cy="2880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3749039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不是：市場流行的說法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數據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能源衝擊使通膨預期脫錨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BEI 今年以來只 +12 bp；9 月升息後兩天 −7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政府大量發債推升財政溢價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Kim-Wright TP 5/19 86 → 6/29 68 bp，與原文「擴大回購後 TP 回落」方向一致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720840" y="1783080"/>
            <a:ext cx="5029200" cy="2880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874519"/>
            <a:ext cx="4709160" cy="274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是：實質利率急遽上升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開戰以來 10Y +135 bp 中，TIPS +123 bp、BEI 只 +11 bp。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主因一　政策利率預期上修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2Y 今年以來 3.47% → 4.79%（+132 bp）</a:t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主因二　AI 投資競逐長期資本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而主因二又會推升主因一（第 9–11 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92040"/>
            <a:ext cx="113385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延伸：</a:t>
            </a:r>
            <a:r>
              <a:rPr sz="1400">
                <a:solidFill>
                  <a:srgbClr val="1F1F1F"/>
                </a:solidFill>
              </a:rPr>
              <a:t>實質利率裡也有期限溢酬。DKW 顯示實質利率上升中近四成是實質 TP（第 8 頁），而 TP 在 6 月回落後，7 月起回升、9 月加速。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00400"/>
            <a:ext cx="11338560" cy="310896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9/23 是轉折點</a:t>
            </a:r>
            <a:r>
              <a:rPr sz="1400"/>
              <a:t>：9/1–9/22 短端領漲、曲線變平（2Y +41、30Y +6 bp）；9/23 起短端停住、長端大跌（2Y +4、30Y +31 bp），MOVE、TP、HY 利差同時跳升</a:t>
            </a:r>
          </a:p>
          <a:p>
            <a:pPr>
              <a:buFont typeface="+mj-lt"/>
              <a:buAutoNum type="arabicPeriod"/>
            </a:pPr>
            <a:r>
              <a:rPr b="1" sz="1400"/>
              <a:t>實質利率主導，通膨預期很小</a:t>
            </a:r>
            <a:r>
              <a:rPr sz="1400"/>
              <a:t>：今年以來 10Y +110 bp 中 TIPS +101、BEI +12；DKW 顯示實質利率上升裡近四成是實質 TP</a:t>
            </a:r>
          </a:p>
          <a:p>
            <a:pPr>
              <a:buFont typeface="+mj-lt"/>
              <a:buAutoNum type="arabicPeriod"/>
            </a:pPr>
            <a:r>
              <a:rPr b="1" sz="1400"/>
              <a:t>Vol：追上實際波動，再加上溢價</a:t>
            </a:r>
            <a:r>
              <a:rPr sz="1400"/>
              <a:t>：MOVE 9/22 → 10/2 +29，其中實際波動 +18；IV − RV +15，低於 3 月與 2025/4 的 +28～+29</a:t>
            </a:r>
          </a:p>
          <a:p>
            <a:pPr>
              <a:buFont typeface="+mj-lt"/>
              <a:buAutoNum type="arabicPeriod"/>
            </a:pPr>
            <a:r>
              <a:rPr b="1" sz="1400"/>
              <a:t>壓力先在高收益信用</a:t>
            </a:r>
            <a:r>
              <a:rPr sz="1400"/>
              <a:t>：HY OAS +52、CDX HY +43 bp，IG 只 +8 bp；HY 水準仍在歷史第 29 百分位</a:t>
            </a:r>
          </a:p>
          <a:p>
            <a:pPr>
              <a:buFont typeface="+mj-lt"/>
              <a:buAutoNum type="arabicPeriod"/>
            </a:pPr>
            <a:r>
              <a:rPr b="1" sz="1400"/>
              <a:t>AI 融資串起三個發現</a:t>
            </a:r>
            <a:r>
              <a:rPr sz="1400"/>
              <a:t>：capex 暴增推高中性利率（預期實質短率）、大量發債推高實質 TP，發行人的信用風險則是失序的可能觸發點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跳升約六成是追上實際波動、四成是溢價擴大，屬於初期失序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摘要：9/23 起轉入 TP 主導，Vol 開始重新定價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+110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10Y 今年以來（TIPS +101、BEI +12）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IV − RV（10/2，歷史第 86 百分位）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+52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HY OAS（9/22 → 10/1）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和原文一致</a:t>
            </a:r>
          </a:p>
          <a:p>
            <a:pPr marL="0" indent="0">
              <a:buNone/>
            </a:pPr>
            <a:r>
              <a:rPr sz="1400"/>
              <a:t>開戰低點以來 10Y +135 bp，TIPS +123、BEI +11，正是原文說的「實質利率貢獻約 120 bp」。</a:t>
            </a:r>
          </a:p>
          <a:p>
            <a:r>
              <a:rPr b="1" sz="1400"/>
              <a:t>通膨預期很小</a:t>
            </a:r>
          </a:p>
          <a:p>
            <a:pPr marL="0" indent="0">
              <a:buNone/>
            </a:pPr>
            <a:r>
              <a:rPr sz="1400"/>
              <a:t>BEI 今年以來只 +12 bp；9/15 以來 −1.9 bp，上升全來自實質利率。</a:t>
            </a:r>
          </a:p>
          <a:p>
            <a:r>
              <a:rPr b="1" sz="1400"/>
              <a:t>這是第一種拆法：實質 vs. 通膨</a:t>
            </a:r>
          </a:p>
          <a:p>
            <a:pPr marL="0" indent="0">
              <a:buNone/>
            </a:pPr>
            <a:r>
              <a:rPr sz="1400"/>
              <a:t>另一種拆法是預期 vs. TP（第 6–8 頁）。兩者是不同維度：TIPS 本身也含實質 TP，所以「實質利率上升」不代表「不是 TP」。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今年以來 10Y +110 bp 中 TIPS +101、BEI +12；9 月升息後 BEI 小跌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市場口徑：10Y 上升約九成來自實質利率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兩個 Fed 研究模型：KW 拆出名目 TP；DKW 加入 TIPS，再拆出實質利率與通膨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方法：Kim-Wright 與 DKW 怎麼拆 10Y 殖利率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/>
                <a:gridCol w="2331720"/>
                <a:gridCol w="30175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Kim-Wright（KW）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DKW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出處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 &amp; Wright（2005）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D'Amico, Kim &amp; Wei（2018）；2019 年更新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用到的資料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名目公債殖利率、短率調查預測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名目公債＋TIPS 殖利率、通膨資料、短率與通膨調查預測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拆得出的成分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預期平均短率、名目 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預期實質短率、實質 TP、預期通膨、通膨風險溢酬、TIPS 流動性溢酬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更新頻率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日資料（FRED THREEFYTP10）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每月（Fed staff）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本報告用途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 月以後的最新變化、交叉驗證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主軸：拆開實質利率與通膨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名目 TP 今年以來（至 8/31）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+31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886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828800"/>
            <a:ext cx="37947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234976"/>
                </a:solidFill>
              </a:rPr>
              <a:t>兩種拆法交叉（今年至 8/31，bp）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18120" y="2286000"/>
          <a:ext cx="3749040" cy="15361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320"/>
                <a:gridCol w="777240"/>
                <a:gridCol w="777240"/>
                <a:gridCol w="777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DKW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預期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合計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實質 TIPS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通膨 BEI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合計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18120" y="3931920"/>
            <a:ext cx="3794760" cy="1691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200">
                <a:solidFill>
                  <a:srgbClr val="0065B2"/>
                </a:solidFill>
              </a:rPr>
              <a:t>橫列 ＝ 拆法一：</a:t>
            </a:r>
            <a:r>
              <a:rPr sz="1200">
                <a:solidFill>
                  <a:srgbClr val="1F1F1F"/>
                </a:solidFill>
              </a:rPr>
              <a:t>實質 vs. 通膨（TIPS ＋ BEI，第 5 頁）</a:t>
            </a:r>
          </a:p>
          <a:p>
            <a:pPr algn="l"/>
            <a:r>
              <a:rPr b="1" sz="1200">
                <a:solidFill>
                  <a:srgbClr val="0065B2"/>
                </a:solidFill>
              </a:rPr>
              <a:t>直欄 ＝ 拆法二：</a:t>
            </a:r>
            <a:r>
              <a:rPr sz="1200">
                <a:solidFill>
                  <a:srgbClr val="1F1F1F"/>
                </a:solidFill>
              </a:rPr>
              <a:t>預期 vs. TP（KW 只拆到這一層）</a:t>
            </a:r>
          </a:p>
          <a:p>
            <a:pPr algn="l"/>
            <a:r>
              <a:rPr b="1" sz="1200">
                <a:solidFill>
                  <a:srgbClr val="1F1F1F"/>
                </a:solidFill>
              </a:rPr>
              <a:t>TIPS 本身含實質 TP：實質利率上升裡近四成是 TP。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000">
                <a:solidFill>
                  <a:srgbClr val="595959"/>
                </a:solidFill>
              </a:rPr>
              <a:t>TIPS、BEI 另含流動性溢酬（+2 bp）；各格四捨五入，加總可能差 1 bp。兩模型都出自 Fed 的 Don Kim，紐約 Fed 的 ACM 方法不同，可做交叉驗證。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拆解：預期是主力，TP 是第二大來源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名目 TP（年底→8/31）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CR 模型（目測）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DKW（主軸）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611880"/>
            <a:ext cx="411480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三個模型都同意：預期是主力，TP 是第二大來源，而且 7 月起持續上升。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DKW 每月更新、只到 8/31；9 月以後暫用日資料的 Kim-Wright，至 9/25 已 +45 bp。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月起持續上升，9 月再加速。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實質部分 +42 bp 怎麼拆</a:t>
            </a:r>
          </a:p>
          <a:p>
            <a:pPr>
              <a:buFont typeface="+mj-lt"/>
              <a:buAutoNum type="arabicPeriod"/>
            </a:pPr>
            <a:r>
              <a:rPr b="1" sz="1400"/>
              <a:t>預期實質短率 +25 bp</a:t>
            </a:r>
            <a:r>
              <a:rPr sz="1400"/>
              <a:t>：政策路徑與 r* 的預期，是主要驅動</a:t>
            </a:r>
          </a:p>
          <a:p>
            <a:pPr>
              <a:buFont typeface="+mj-lt"/>
              <a:buAutoNum type="arabicPeriod"/>
            </a:pPr>
            <a:r>
              <a:rPr b="1" sz="1400"/>
              <a:t>實質 TP +16 bp</a:t>
            </a:r>
            <a:r>
              <a:rPr sz="1400"/>
              <a:t>：約佔實質部分的 39%，TIPS 殖利率中屬於期限溢酬的部分</a:t>
            </a:r>
          </a:p>
          <a:p>
            <a:r>
              <a:rPr b="1" sz="1400"/>
              <a:t>7 月以來</a:t>
            </a:r>
          </a:p>
          <a:p>
            <a:pPr marL="0" indent="0">
              <a:buNone/>
            </a:pPr>
            <a:r>
              <a:rPr sz="1400"/>
              <a:t>6/30 → 8/31 名目 TP +15 bp，佔名目上升約四成；實質 TP（+13）大於預期實質短率（+10）。</a:t>
            </a:r>
          </a:p>
          <a:p>
            <a:r>
              <a:rPr b="1" sz="1400"/>
              <a:t>其他</a:t>
            </a:r>
          </a:p>
          <a:p>
            <a:pPr marL="0" indent="0">
              <a:buNone/>
            </a:pPr>
            <a:r>
              <a:rPr sz="1400"/>
              <a:t>通膨部分小：預期通膨 +12 bp；市場 BEI 今年以來 +12 bp，9 月升息後小跌。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今年到 8 月 +57 bp：預期實質短率 +25、實質 TP +16、預期通膨 +12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DKW：「實質利率」上升裡，近四成是實質 TP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沒有通膨壓力，卻同時推高實質短率預期與實質 TP；AI 融資對應兩條管道，再加一條信用管道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融資（1/3）：為什麼是實質利率與實質 TP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474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4206240"/>
                <a:gridCol w="3566160"/>
                <a:gridCol w="2194560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管道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機制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對應數據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驗證狀態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① r* 管道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capex 暴增 → 投資需求上升 → 中性利率上移 → 預期實質短率上升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 預期實質短率 +25 bp（今年至 8/31）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形狀吻合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② 供給管道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capex 超過內部現金流 → 大量發債 → 長天期公司債與美債搶同一批 duration 買家 → 實質 TP 上升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 實質 TP +16 bp；2026 年 capex 約 9,170 億美元，約等於 8 家公司現有債務＋租賃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待驗證：發債時程 vs TP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③ 信用管道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發行人槓桿上升 → 信用利差擴大 → TP 衝擊再疊加信用衝擊，成為失序的觸發點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9/23 起 HY OAS +52 bp；Oracle BBB−、5Y CDS 227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待驗證：AI 發行人 CDS 走勢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349240"/>
            <a:ext cx="11338560" cy="9144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6424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E83F0A"/>
                </a:solidFill>
              </a:rPr>
              <a:t>待補數據：</a:t>
            </a:r>
            <a:r>
              <a:rPr sz="1300">
                <a:solidFill>
                  <a:srgbClr val="1F1F1F"/>
                </a:solidFill>
              </a:rPr>
              <a:t>① hyperscaler 每月發債量 vs Kim-Wright TP　② Oracle、Meta 等 5Y CDS 相對 CDX IG，是否在 7 月後與 TP 同步走高。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若兩者都不同步，AI 融資應降級為風險因子，而非 TP 的推手。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這一頁對應供給管道（第 9 頁 ②）</a:t>
            </a:r>
          </a:p>
          <a:p>
            <a:pPr>
              <a:buFont typeface="+mj-lt"/>
              <a:buAutoNum type="arabicPeriod"/>
            </a:pPr>
            <a:r>
              <a:rPr b="1" sz="1500"/>
              <a:t>規模</a:t>
            </a:r>
            <a:r>
              <a:rPr sz="1500"/>
              <a:t>：2026 年 capex 約 9,170 億美元，約等於 8 家公司現有債務＋租賃</a:t>
            </a:r>
          </a:p>
          <a:p>
            <a:pPr>
              <a:buFont typeface="+mj-lt"/>
              <a:buAutoNum type="arabicPeriod"/>
            </a:pPr>
            <a:r>
              <a:rPr b="1" sz="1500"/>
              <a:t>融資缺口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融資（2/3）：Capex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融資（3/3）：信用市場已在替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以前曲線變平（預期主導）；9/23 起曲線變陡，MOVE +30、HY +52 bp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9/23 起轉入 TP 主導：短端停住、長端大跌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76656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52360" y="1783080"/>
          <a:ext cx="4297680" cy="3072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234440"/>
                <a:gridCol w="1234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變動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第一階段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第二階段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2s10s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5s30s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−27.9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+13.9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10Y BEI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+3.7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MOVE（點）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+3.2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+29.6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Kim-Wright TP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+5.4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HY OAS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CDX HY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52360" y="4983480"/>
            <a:ext cx="429768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234976"/>
                </a:solidFill>
              </a:rPr>
              <a:t>第二階段的組合（短端停、長端漲、Vol 與高收益利差同步跳升）正是原文預告的 regime change。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3840480"/>
            <a:ext cx="4114800" cy="237744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200"/>
              <a:t>主要是補漲</a:t>
            </a:r>
            <a:r>
              <a:rPr sz="1200"/>
              <a:t>：實際波動從 74 升到 92；9/23 以來 8 天年化約 105，與 MOVE 相當</a:t>
            </a:r>
          </a:p>
          <a:p>
            <a:pPr>
              <a:buFont typeface="+mj-lt"/>
              <a:buAutoNum type="arabicPeriod"/>
            </a:pPr>
            <a:r>
              <a:rPr b="1" sz="1200"/>
              <a:t>溢價也在擴大</a:t>
            </a:r>
            <a:r>
              <a:rPr sz="1200"/>
              <a:t>：IV − RV +15，高於歷史平均（約 0），但低於兩次衝擊的 +28～+29</a:t>
            </a:r>
          </a:p>
          <a:p>
            <a:pPr>
              <a:buFont typeface="+mj-lt"/>
              <a:buAutoNum type="arabicPeriod"/>
            </a:pPr>
            <a:r>
              <a:rPr b="1" sz="1200"/>
              <a:t>9 月上旬的 MOVE 偏便宜</a:t>
            </a:r>
            <a:r>
              <a:rPr sz="1200"/>
              <a:t>：事後看，之後的實際波動比它高約 18 bp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→ 10/2 MOVE +28.7：實際波動 +17.8（約 62%）、IV − RV +11.0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Vol：MOVE 追上實際波動，溢價擴大到第 86 百分位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685800"/>
                <a:gridCol w="594360"/>
                <a:gridCol w="777240"/>
                <a:gridCol w="685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時點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IV−RV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百分位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2025/4 關稅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2026/3 開戰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+28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9/22 轉折前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10/2 最新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107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92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5661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延伸：失序才是關鍵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有序上升，IV 沒有跟上；真正推高 VRP 的是失序特徵：做市商受限、Repo Haircut 加大、保證金追繳引發拋售循環。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數據顯示：初期失序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9/23 起 TP 加速、HY 利差 +52 bp，IV − RV 才從 +4 擴大到 +15；MOVE 跳升約六成來自實際波動上升。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200"/>
              <a:t>股市：AI 敘事只撐住 Mag 7</a:t>
            </a:r>
          </a:p>
          <a:p>
            <a:pPr marL="0" indent="0">
              <a:buNone/>
            </a:pPr>
            <a:r>
              <a:rPr sz="1200"/>
              <a:t>對利率敏感的小型股、等權重指數已在跌；SOX 跌最多，市場開始擔心 AI 融資成本或報酬。</a:t>
            </a:r>
          </a:p>
          <a:p>
            <a:r>
              <a:rPr b="1" sz="1200"/>
              <a:t>信用：高收益先反應</a:t>
            </a:r>
          </a:p>
          <a:p>
            <a:pPr marL="0" indent="0">
              <a:buNone/>
            </a:pPr>
            <a:r>
              <a:rPr sz="1200"/>
              <a:t>9/23 起 HY OAS +52、CDX HY +43 bp，IG 只 +8 bp；HY 318 bp 仍低於 3/30 的 335 與 2025/4 的 453。</a:t>
            </a:r>
          </a:p>
          <a:p>
            <a:r>
              <a:rPr b="1" sz="1200"/>
              <a:t>去槓桿：風險低於 2025/4</a:t>
            </a:r>
          </a:p>
          <a:p>
            <a:pPr marL="0" indent="0">
              <a:buNone/>
            </a:pPr>
            <a:r>
              <a:rPr sz="1200"/>
              <a:t>eSLR 放寬後 Basis Trade 部位逐漸移往 G-SIBs，Repo 市場較不脆弱（尚缺部位數據）。</a:t>
            </a:r>
          </a:p>
          <a:p>
            <a:r>
              <a:rPr b="1" sz="12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200"/>
              <a:t>Oracle 降至高收益級</a:t>
            </a:r>
            <a:r>
              <a:rPr sz="1200"/>
              <a:t>：被迫賣出、信用利差跳升（AI 融資的信用管道，第 9 頁）</a:t>
            </a:r>
          </a:p>
          <a:p>
            <a:pPr>
              <a:buFont typeface="+mj-lt"/>
              <a:buAutoNum type="arabicPeriod"/>
            </a:pPr>
            <a:r>
              <a:rPr b="1" sz="1200"/>
              <a:t>AI 投資報酬受質疑</a:t>
            </a:r>
            <a:r>
              <a:rPr sz="12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IV − RV 擴大、高收益利差跳升，但還沒到 3 月或 2025/4 的極端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情境：目前處於「初期失序」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3017520"/>
                <a:gridCol w="3383280"/>
                <a:gridCol w="32004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目前讀數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A：全面失序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續擴大、Payer Skew 變陡、信用利差續寬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+15（衝擊時 +28～+29）；HY 318 bp（2025/4 為 453）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偏貴但肥尾風險是真的；等失序緩解再評估賣 Vol，並用價差限損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B：單純補漲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只是追上 RV、Skew 平穩、信用不再擴大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 上升約 62% 來自實際波動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的機會還沒到；繼續追蹤 TP 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目前：初期失序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介於 A 與 B 之間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9/23 起 TP +8.6 bp（3 天）、2s10s +24 bp、HY +52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不急著賣 Vol；TP 主導期有利 bear steepener；BEI 仍是便宜的戰事保險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2120"/>
            <a:ext cx="113385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升級成 A 的訊號：</a:t>
            </a:r>
            <a:r>
              <a:rPr sz="1400">
                <a:solidFill>
                  <a:srgbClr val="1F1F1F"/>
                </a:solidFill>
              </a:rPr>
              <a:t>IV − RV 超過 +20、HY OAS 突破 335（3 月高點）、Kim-Wright TP 持續加速、AI 發行人 CDS 相對 CDX IG 走寬。</a:t>
            </a:r>
            <a:r>
              <a:rPr b="1" sz="1400">
                <a:solidFill>
                  <a:srgbClr val="234976"/>
                </a:solidFill>
              </a:rPr>
              <a:t>　回到預期主導的訊號：</a:t>
            </a:r>
            <a:r>
              <a:rPr sz="1400">
                <a:solidFill>
                  <a:srgbClr val="1F1F1F"/>
                </a:solidFill>
              </a:rPr>
              <a:t>2Y 重新領漲、曲線再度變平。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與信用利差，判斷初期失序會不會升級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58952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8720"/>
                <a:gridCol w="2286000"/>
                <a:gridCol w="2377440"/>
                <a:gridCol w="17373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最新讀數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DKW（主）、Kim-Wright、ACM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Kim-Wright 102 bp（9/25）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2Y、SOFR Futures / OIS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2s10s 45 bp（10/1）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 是否重新領漲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 107、IV − RV +15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是否超過 +20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/ IG OAS、CDX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318、IG 83、CDX IG 60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是否突破 335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SOFR − IORB、Swap Spread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Russell 2000、等權重 S&amp;P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9/1–9/16 落後大盤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0" y="1783080"/>
            <a:ext cx="3520440" cy="4114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920240"/>
            <a:ext cx="32004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美伊開戰、Warsh 升息、Bessent 擴大回購等事件來自市況觀察原文。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市場資料至 10/2；只有收盤價，無盤中值。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無 Swaption 與 Payer Skew 資料，IV 以 MOVE 代替。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TP 為模型估計值，各模型常差 10–20 bp；DKW 只到 8/31。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CDS 表只有單一時點；「債務」可能含租賃。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附錄：框架基礎——預期主導時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