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sldIdLst>
    <p:sldId id="875" r:id="rId5"/>
    <p:sldId id="879" r:id="rId8"/>
    <p:sldId id="880" r:id="rId7"/>
    <p:sldId id="878" r:id="rId9"/>
    <p:sldId id="882" r:id="rId16"/>
    <p:sldId id="883" r:id="rId17"/>
    <p:sldId id="884" r:id="rId18"/>
    <p:sldId id="885" r:id="rId19"/>
    <p:sldId id="881" r:id="rId6"/>
    <p:sldId id="889" r:id="rId23"/>
    <p:sldId id="890" r:id="rId24"/>
    <p:sldId id="886" r:id="rId20"/>
    <p:sldId id="887" r:id="rId21"/>
    <p:sldId id="888" r:id="rId22"/>
    <p:sldId id="891" r:id="rId25"/>
    <p:sldId id="892" r:id="rId26"/>
    <p:sldId id="893" r:id="rId27"/>
    <p:sldId id="894" r:id="rId28"/>
    <p:sldId id="877" r:id="rId10"/>
  </p:sldIdLst>
  <p:sldSz cx="12192000" cy="6858000"/>
  <p:notesSz cx="6807200" cy="9939338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A8FCE"/>
    <a:srgbClr val="FFFFFF"/>
    <a:srgbClr val="004B99"/>
    <a:srgbClr val="7F7F7F"/>
    <a:srgbClr val="F68F1C"/>
    <a:srgbClr val="91B4DE"/>
    <a:srgbClr val="F15E22"/>
    <a:srgbClr val="00377C"/>
    <a:srgbClr val="595959"/>
    <a:srgbClr val="EA4C0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60" autoAdjust="0"/>
    <p:restoredTop sz="96318" autoAdjust="0"/>
  </p:normalViewPr>
  <p:slideViewPr>
    <p:cSldViewPr snapToGrid="0">
      <p:cViewPr varScale="1">
        <p:scale>
          <a:sx n="76" d="100"/>
          <a:sy n="76" d="100"/>
        </p:scale>
        <p:origin x="10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9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1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10Y 變動 ＝ TIPS（實質利率）＋ BEI（通膨預期）（bp）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10Y TIPS（實質利率）</c:v>
                </c:pt>
              </c:strCache>
            </c:strRef>
          </c:tx>
          <c:spPr>
            <a:solidFill>
              <a:srgbClr val="234976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今年以來</c:v>
                </c:pt>
                <c:pt idx="1">
                  <c:v>開戰低點以來
（2/27–9/30）</c:v>
                </c:pt>
                <c:pt idx="2">
                  <c:v>9 月</c:v>
                </c:pt>
                <c:pt idx="3">
                  <c:v>9/15 → 10/2
（涵蓋 9 月升息）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100.7</c:v>
                </c:pt>
                <c:pt idx="1">
                  <c:v>123.3</c:v>
                </c:pt>
                <c:pt idx="2">
                  <c:v>48.6</c:v>
                </c:pt>
                <c:pt idx="3">
                  <c:v>29.0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10Y BEI（通膨預期）</c:v>
                </c:pt>
              </c:strCache>
            </c:strRef>
          </c:tx>
          <c:spPr>
            <a:solidFill>
              <a:srgbClr val="8C96A0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今年以來</c:v>
                </c:pt>
                <c:pt idx="1">
                  <c:v>開戰低點以來
（2/27–9/30）</c:v>
                </c:pt>
                <c:pt idx="2">
                  <c:v>9 月</c:v>
                </c:pt>
                <c:pt idx="3">
                  <c:v>9/15 → 10/2
（涵蓋 9 月升息）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11.8</c:v>
                </c:pt>
                <c:pt idx="1">
                  <c:v>11.3</c:v>
                </c:pt>
                <c:pt idx="2">
                  <c:v>5.0</c:v>
                </c:pt>
                <c:pt idx="3">
                  <c:v>-1.9</c:v>
                </c:pt>
              </c:numCache>
            </c:numRef>
          </c:val>
        </c:ser>
        <c:dLbls>
          <c:numFmt formatCode="+0;-0" sourceLinked="0"/>
          <c:txPr>
            <a:bodyPr/>
            <a:lstStyle/>
            <a:p>
              <a:pPr>
                <a:defRPr sz="11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5.0"/>
          <c:min val="-2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Kim-Wright 10Y TP 相對 2025 年底的變動（bp）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Kim-Wright 10Y TP（相對 2025 年底，bp）</c:v>
                </c:pt>
              </c:strCache>
            </c:strRef>
          </c:tx>
          <c:spPr>
            <a:ln w="31750">
              <a:solidFill>
                <a:srgbClr val="0065B2"/>
              </a:solidFill>
            </a:ln>
          </c:spPr>
          <c:marker>
            <c:symbol val="circle"/>
            <c:size val="7"/>
            <c:spPr>
              <a:solidFill>
                <a:srgbClr val="0065B2"/>
              </a:solidFill>
              <a:ln>
                <a:solidFill>
                  <a:srgbClr val="0065B2"/>
                </a:solidFill>
              </a:ln>
            </c:spPr>
          </c:marker>
          <c:dLbls>
            <c:dLbl>
              <c:idx val="8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234976"/>
                      </a:solidFill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234976"/>
                      </a:solidFill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2025/12</c:v>
                </c:pt>
                <c:pt idx="1">
                  <c:v>1月</c:v>
                </c:pt>
                <c:pt idx="2">
                  <c:v>2月</c:v>
                </c:pt>
                <c:pt idx="3">
                  <c:v>3月</c:v>
                </c:pt>
                <c:pt idx="4">
                  <c:v>4月</c:v>
                </c:pt>
                <c:pt idx="5">
                  <c:v>5月</c:v>
                </c:pt>
                <c:pt idx="6">
                  <c:v>6月</c:v>
                </c:pt>
                <c:pt idx="7">
                  <c:v>7月</c:v>
                </c:pt>
                <c:pt idx="8">
                  <c:v>8月</c:v>
                </c:pt>
                <c:pt idx="9">
                  <c:v>9/25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4.4</c:v>
                </c:pt>
                <c:pt idx="2">
                  <c:v>-10.8</c:v>
                </c:pt>
                <c:pt idx="3">
                  <c:v>8.3</c:v>
                </c:pt>
                <c:pt idx="4">
                  <c:v>13.3</c:v>
                </c:pt>
                <c:pt idx="5">
                  <c:v>18.3</c:v>
                </c:pt>
                <c:pt idx="6">
                  <c:v>12.6</c:v>
                </c:pt>
                <c:pt idx="7">
                  <c:v>29.7</c:v>
                </c:pt>
                <c:pt idx="8">
                  <c:v>30.9</c:v>
                </c:pt>
                <c:pt idx="9">
                  <c:v>44.9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0.0"/>
          <c:min val="-2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2118791784"/>
        <c:crosses val="autoZero"/>
        <c:majorUnit val="10.0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DKW 10Y 各成分變動（bp）：7 月以來實質 TP 大於預期實質短率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年底 → 8/31</c:v>
                </c:pt>
              </c:strCache>
            </c:strRef>
          </c:tx>
          <c:spPr>
            <a:solidFill>
              <a:srgbClr val="234976"/>
            </a:solidFill>
          </c:spPr>
          <c:cat>
            <c:strRef>
              <c:f>Sheet1!$A$2:$A$5</c:f>
              <c:strCache>
                <c:ptCount val="4"/>
                <c:pt idx="0">
                  <c:v>預期實質短率</c:v>
                </c:pt>
                <c:pt idx="1">
                  <c:v>實質 TP</c:v>
                </c:pt>
                <c:pt idx="2">
                  <c:v>預期通膨</c:v>
                </c:pt>
                <c:pt idx="3">
                  <c:v>通膨風險溢酬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25.4</c:v>
                </c:pt>
                <c:pt idx="1">
                  <c:v>16.2</c:v>
                </c:pt>
                <c:pt idx="2">
                  <c:v>12.0</c:v>
                </c:pt>
                <c:pt idx="3">
                  <c:v>3.7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6/30 → 8/31</c:v>
                </c:pt>
              </c:strCache>
            </c:strRef>
          </c:tx>
          <c:spPr>
            <a:solidFill>
              <a:srgbClr val="0065B2"/>
            </a:solidFill>
          </c:spPr>
          <c:cat>
            <c:strRef>
              <c:f>Sheet1!$A$2:$A$5</c:f>
              <c:strCache>
                <c:ptCount val="4"/>
                <c:pt idx="0">
                  <c:v>預期實質短率</c:v>
                </c:pt>
                <c:pt idx="1">
                  <c:v>實質 TP</c:v>
                </c:pt>
                <c:pt idx="2">
                  <c:v>預期通膨</c:v>
                </c:pt>
                <c:pt idx="3">
                  <c:v>通膨風險溢酬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10.4</c:v>
                </c:pt>
                <c:pt idx="1">
                  <c:v>12.6</c:v>
                </c:pt>
                <c:pt idx="2">
                  <c:v>7.9</c:v>
                </c:pt>
                <c:pt idx="3">
                  <c:v>3.0</c:v>
                </c:pt>
              </c:numCache>
            </c:numRef>
          </c:val>
        </c:ser>
        <c:dLbls>
          <c:numFmt formatCode="+0.0" sourceLinked="0"/>
          <c:txPr>
            <a:bodyPr/>
            <a:lstStyle/>
            <a:p>
              <a:pPr>
                <a:defRPr sz="12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殖利率變動（bp）：第一階段短端領漲，第二階段長端領漲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第一階段 9/1–9/22</c:v>
                </c:pt>
              </c:strCache>
            </c:strRef>
          </c:tx>
          <c:spPr>
            <a:solidFill>
              <a:srgbClr val="8C96A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3M</c:v>
                </c:pt>
                <c:pt idx="1">
                  <c:v>2Y</c:v>
                </c:pt>
                <c:pt idx="2">
                  <c:v>5Y</c:v>
                </c:pt>
                <c:pt idx="3">
                  <c:v>10Y</c:v>
                </c:pt>
                <c:pt idx="4">
                  <c:v>30Y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26.8</c:v>
                </c:pt>
                <c:pt idx="1">
                  <c:v>41.2</c:v>
                </c:pt>
                <c:pt idx="2">
                  <c:v>33.6</c:v>
                </c:pt>
                <c:pt idx="3">
                  <c:v>21.1</c:v>
                </c:pt>
                <c:pt idx="4">
                  <c:v>5.7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第二階段 9/23–10/1</c:v>
                </c:pt>
              </c:strCache>
            </c:strRef>
          </c:tx>
          <c:spPr>
            <a:solidFill>
              <a:srgbClr val="0065B2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3M</c:v>
                </c:pt>
                <c:pt idx="1">
                  <c:v>2Y</c:v>
                </c:pt>
                <c:pt idx="2">
                  <c:v>5Y</c:v>
                </c:pt>
                <c:pt idx="3">
                  <c:v>10Y</c:v>
                </c:pt>
                <c:pt idx="4">
                  <c:v>30Y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-1.4</c:v>
                </c:pt>
                <c:pt idx="1">
                  <c:v>3.8</c:v>
                </c:pt>
                <c:pt idx="2">
                  <c:v>17.4</c:v>
                </c:pt>
                <c:pt idx="3">
                  <c:v>27.9</c:v>
                </c:pt>
                <c:pt idx="4">
                  <c:v>31.3</c:v>
                </c:pt>
              </c:numCache>
            </c:numRef>
          </c:val>
        </c:ser>
        <c:dLbls>
          <c:numFmt formatCode="+0;-0" sourceLinked="0"/>
          <c:txPr>
            <a:bodyPr/>
            <a:lstStyle/>
            <a:p>
              <a:pPr>
                <a:defRPr sz="11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8.0"/>
          <c:min val="-5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MOVE 與 10Y 實際波動（bp/y，2026 年每週五）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MOVE（隱含波動）</c:v>
                </c:pt>
              </c:strCache>
            </c:strRef>
          </c:tx>
          <c:spPr>
            <a:ln w="34925">
              <a:solidFill>
                <a:srgbClr val="0065B2"/>
              </a:solidFill>
            </a:ln>
          </c:spPr>
          <c:marker>
            <c:symbol val="none"/>
          </c:marker>
          <c:dLbls>
            <c:dLbl>
              <c:idx val="39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0065B2"/>
                        </a:solidFill>
                      </a:rPr>
                      <a:t>107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Sheet1!$A$2:$A$41</c:f>
              <c:strCache>
                <c:ptCount val="40"/>
                <c:pt idx="0">
                  <c:v>1/2</c:v>
                </c:pt>
                <c:pt idx="1">
                  <c:v>1/9</c:v>
                </c:pt>
                <c:pt idx="2">
                  <c:v>1/16</c:v>
                </c:pt>
                <c:pt idx="3">
                  <c:v>1/23</c:v>
                </c:pt>
                <c:pt idx="4">
                  <c:v>1/30</c:v>
                </c:pt>
                <c:pt idx="5">
                  <c:v>2/6</c:v>
                </c:pt>
                <c:pt idx="6">
                  <c:v>2/13</c:v>
                </c:pt>
                <c:pt idx="7">
                  <c:v>2/20</c:v>
                </c:pt>
                <c:pt idx="8">
                  <c:v>2/27</c:v>
                </c:pt>
                <c:pt idx="9">
                  <c:v>3/6</c:v>
                </c:pt>
                <c:pt idx="10">
                  <c:v>3/13</c:v>
                </c:pt>
                <c:pt idx="11">
                  <c:v>3/20</c:v>
                </c:pt>
                <c:pt idx="12">
                  <c:v>3/27</c:v>
                </c:pt>
                <c:pt idx="13">
                  <c:v>4/3</c:v>
                </c:pt>
                <c:pt idx="14">
                  <c:v>4/10</c:v>
                </c:pt>
                <c:pt idx="15">
                  <c:v>4/17</c:v>
                </c:pt>
                <c:pt idx="16">
                  <c:v>4/24</c:v>
                </c:pt>
                <c:pt idx="17">
                  <c:v>5/1</c:v>
                </c:pt>
                <c:pt idx="18">
                  <c:v>5/8</c:v>
                </c:pt>
                <c:pt idx="19">
                  <c:v>5/15</c:v>
                </c:pt>
                <c:pt idx="20">
                  <c:v>5/22</c:v>
                </c:pt>
                <c:pt idx="21">
                  <c:v>5/29</c:v>
                </c:pt>
                <c:pt idx="22">
                  <c:v>6/5</c:v>
                </c:pt>
                <c:pt idx="23">
                  <c:v>6/12</c:v>
                </c:pt>
                <c:pt idx="24">
                  <c:v>6/19</c:v>
                </c:pt>
                <c:pt idx="25">
                  <c:v>6/26</c:v>
                </c:pt>
                <c:pt idx="26">
                  <c:v>7/3</c:v>
                </c:pt>
                <c:pt idx="27">
                  <c:v>7/10</c:v>
                </c:pt>
                <c:pt idx="28">
                  <c:v>7/17</c:v>
                </c:pt>
                <c:pt idx="29">
                  <c:v>7/24</c:v>
                </c:pt>
                <c:pt idx="30">
                  <c:v>7/31</c:v>
                </c:pt>
                <c:pt idx="31">
                  <c:v>8/7</c:v>
                </c:pt>
                <c:pt idx="32">
                  <c:v>8/14</c:v>
                </c:pt>
                <c:pt idx="33">
                  <c:v>8/21</c:v>
                </c:pt>
                <c:pt idx="34">
                  <c:v>8/28</c:v>
                </c:pt>
                <c:pt idx="35">
                  <c:v>9/4</c:v>
                </c:pt>
                <c:pt idx="36">
                  <c:v>9/11</c:v>
                </c:pt>
                <c:pt idx="37">
                  <c:v>9/18</c:v>
                </c:pt>
                <c:pt idx="38">
                  <c:v>9/25</c:v>
                </c:pt>
                <c:pt idx="39">
                  <c:v>10/2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62.36</c:v>
                </c:pt>
                <c:pt idx="1">
                  <c:v>61.55</c:v>
                </c:pt>
                <c:pt idx="2">
                  <c:v>58.05</c:v>
                </c:pt>
                <c:pt idx="3">
                  <c:v>56.25</c:v>
                </c:pt>
                <c:pt idx="4">
                  <c:v>59.2</c:v>
                </c:pt>
                <c:pt idx="5">
                  <c:v>63.62</c:v>
                </c:pt>
                <c:pt idx="6">
                  <c:v>70.1</c:v>
                </c:pt>
                <c:pt idx="7">
                  <c:v>64.27</c:v>
                </c:pt>
                <c:pt idx="8">
                  <c:v>73.38</c:v>
                </c:pt>
                <c:pt idx="9">
                  <c:v>81.26</c:v>
                </c:pt>
                <c:pt idx="10">
                  <c:v>91.17</c:v>
                </c:pt>
                <c:pt idx="11">
                  <c:v>108.84</c:v>
                </c:pt>
                <c:pt idx="12">
                  <c:v>111.95</c:v>
                </c:pt>
                <c:pt idx="13">
                  <c:v>81.78</c:v>
                </c:pt>
                <c:pt idx="14">
                  <c:v>72.15</c:v>
                </c:pt>
                <c:pt idx="15">
                  <c:v>65.7</c:v>
                </c:pt>
                <c:pt idx="16">
                  <c:v>66.97</c:v>
                </c:pt>
                <c:pt idx="17">
                  <c:v>70.41</c:v>
                </c:pt>
                <c:pt idx="18">
                  <c:v>67.25</c:v>
                </c:pt>
                <c:pt idx="19">
                  <c:v>79.87</c:v>
                </c:pt>
                <c:pt idx="20">
                  <c:v>78.43</c:v>
                </c:pt>
                <c:pt idx="21">
                  <c:v>70.22</c:v>
                </c:pt>
                <c:pt idx="22">
                  <c:v>75.2</c:v>
                </c:pt>
                <c:pt idx="23">
                  <c:v>69.36</c:v>
                </c:pt>
                <c:pt idx="24">
                  <c:v>65.39</c:v>
                </c:pt>
                <c:pt idx="25">
                  <c:v>66.79</c:v>
                </c:pt>
                <c:pt idx="26">
                  <c:v>65.4</c:v>
                </c:pt>
                <c:pt idx="27">
                  <c:v>69.55</c:v>
                </c:pt>
                <c:pt idx="28">
                  <c:v>70.88</c:v>
                </c:pt>
                <c:pt idx="29">
                  <c:v>76.82</c:v>
                </c:pt>
                <c:pt idx="30">
                  <c:v>83.02</c:v>
                </c:pt>
                <c:pt idx="31">
                  <c:v>72.03</c:v>
                </c:pt>
                <c:pt idx="32">
                  <c:v>69.58</c:v>
                </c:pt>
                <c:pt idx="33">
                  <c:v>73.4</c:v>
                </c:pt>
                <c:pt idx="34">
                  <c:v>70.97</c:v>
                </c:pt>
                <c:pt idx="35">
                  <c:v>73.1</c:v>
                </c:pt>
                <c:pt idx="36">
                  <c:v>82.21</c:v>
                </c:pt>
                <c:pt idx="37">
                  <c:v>80.64</c:v>
                </c:pt>
                <c:pt idx="38">
                  <c:v>96.0</c:v>
                </c:pt>
                <c:pt idx="39">
                  <c:v>107.29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10Y 實際波動（21 日）</c:v>
                </c:pt>
              </c:strCache>
            </c:strRef>
          </c:tx>
          <c:spPr>
            <a:ln w="25400">
              <a:solidFill>
                <a:srgbClr val="8C96A0"/>
              </a:solidFill>
            </a:ln>
          </c:spPr>
          <c:marker>
            <c:symbol val="none"/>
          </c:marker>
          <c:dLbls>
            <c:dLbl>
              <c:idx val="39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8C96A0"/>
                        </a:solidFill>
                      </a:rPr>
                      <a:t>92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Sheet1!$A$2:$A$41</c:f>
              <c:strCache>
                <c:ptCount val="40"/>
                <c:pt idx="0">
                  <c:v>1/2</c:v>
                </c:pt>
                <c:pt idx="1">
                  <c:v>1/9</c:v>
                </c:pt>
                <c:pt idx="2">
                  <c:v>1/16</c:v>
                </c:pt>
                <c:pt idx="3">
                  <c:v>1/23</c:v>
                </c:pt>
                <c:pt idx="4">
                  <c:v>1/30</c:v>
                </c:pt>
                <c:pt idx="5">
                  <c:v>2/6</c:v>
                </c:pt>
                <c:pt idx="6">
                  <c:v>2/13</c:v>
                </c:pt>
                <c:pt idx="7">
                  <c:v>2/20</c:v>
                </c:pt>
                <c:pt idx="8">
                  <c:v>2/27</c:v>
                </c:pt>
                <c:pt idx="9">
                  <c:v>3/6</c:v>
                </c:pt>
                <c:pt idx="10">
                  <c:v>3/13</c:v>
                </c:pt>
                <c:pt idx="11">
                  <c:v>3/20</c:v>
                </c:pt>
                <c:pt idx="12">
                  <c:v>3/27</c:v>
                </c:pt>
                <c:pt idx="13">
                  <c:v>4/3</c:v>
                </c:pt>
                <c:pt idx="14">
                  <c:v>4/10</c:v>
                </c:pt>
                <c:pt idx="15">
                  <c:v>4/17</c:v>
                </c:pt>
                <c:pt idx="16">
                  <c:v>4/24</c:v>
                </c:pt>
                <c:pt idx="17">
                  <c:v>5/1</c:v>
                </c:pt>
                <c:pt idx="18">
                  <c:v>5/8</c:v>
                </c:pt>
                <c:pt idx="19">
                  <c:v>5/15</c:v>
                </c:pt>
                <c:pt idx="20">
                  <c:v>5/22</c:v>
                </c:pt>
                <c:pt idx="21">
                  <c:v>5/29</c:v>
                </c:pt>
                <c:pt idx="22">
                  <c:v>6/5</c:v>
                </c:pt>
                <c:pt idx="23">
                  <c:v>6/12</c:v>
                </c:pt>
                <c:pt idx="24">
                  <c:v>6/19</c:v>
                </c:pt>
                <c:pt idx="25">
                  <c:v>6/26</c:v>
                </c:pt>
                <c:pt idx="26">
                  <c:v>7/3</c:v>
                </c:pt>
                <c:pt idx="27">
                  <c:v>7/10</c:v>
                </c:pt>
                <c:pt idx="28">
                  <c:v>7/17</c:v>
                </c:pt>
                <c:pt idx="29">
                  <c:v>7/24</c:v>
                </c:pt>
                <c:pt idx="30">
                  <c:v>7/31</c:v>
                </c:pt>
                <c:pt idx="31">
                  <c:v>8/7</c:v>
                </c:pt>
                <c:pt idx="32">
                  <c:v>8/14</c:v>
                </c:pt>
                <c:pt idx="33">
                  <c:v>8/21</c:v>
                </c:pt>
                <c:pt idx="34">
                  <c:v>8/28</c:v>
                </c:pt>
                <c:pt idx="35">
                  <c:v>9/4</c:v>
                </c:pt>
                <c:pt idx="36">
                  <c:v>9/11</c:v>
                </c:pt>
                <c:pt idx="37">
                  <c:v>9/18</c:v>
                </c:pt>
                <c:pt idx="38">
                  <c:v>9/25</c:v>
                </c:pt>
                <c:pt idx="39">
                  <c:v>10/2</c:v>
                </c:pt>
              </c:strCache>
            </c: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41.41</c:v>
                </c:pt>
                <c:pt idx="1">
                  <c:v>37.6</c:v>
                </c:pt>
                <c:pt idx="2">
                  <c:v>43.74</c:v>
                </c:pt>
                <c:pt idx="3">
                  <c:v>51.56</c:v>
                </c:pt>
                <c:pt idx="4">
                  <c:v>50.26</c:v>
                </c:pt>
                <c:pt idx="5">
                  <c:v>61.44</c:v>
                </c:pt>
                <c:pt idx="6">
                  <c:v>69.95</c:v>
                </c:pt>
                <c:pt idx="7">
                  <c:v>59.56</c:v>
                </c:pt>
                <c:pt idx="8">
                  <c:v>63.69</c:v>
                </c:pt>
                <c:pt idx="9">
                  <c:v>70.16</c:v>
                </c:pt>
                <c:pt idx="10">
                  <c:v>70.12</c:v>
                </c:pt>
                <c:pt idx="11">
                  <c:v>84.17</c:v>
                </c:pt>
                <c:pt idx="12">
                  <c:v>83.77</c:v>
                </c:pt>
                <c:pt idx="13">
                  <c:v>82.2</c:v>
                </c:pt>
                <c:pt idx="14">
                  <c:v>77.05</c:v>
                </c:pt>
                <c:pt idx="15">
                  <c:v>76.96</c:v>
                </c:pt>
                <c:pt idx="16">
                  <c:v>54.34</c:v>
                </c:pt>
                <c:pt idx="17">
                  <c:v>59.6</c:v>
                </c:pt>
                <c:pt idx="18">
                  <c:v>69.19</c:v>
                </c:pt>
                <c:pt idx="19">
                  <c:v>76.78</c:v>
                </c:pt>
                <c:pt idx="20">
                  <c:v>83.18</c:v>
                </c:pt>
                <c:pt idx="21">
                  <c:v>82.52</c:v>
                </c:pt>
                <c:pt idx="22">
                  <c:v>77.6</c:v>
                </c:pt>
                <c:pt idx="23">
                  <c:v>83.26</c:v>
                </c:pt>
                <c:pt idx="24">
                  <c:v>65.41</c:v>
                </c:pt>
                <c:pt idx="25">
                  <c:v>73.83</c:v>
                </c:pt>
                <c:pt idx="26">
                  <c:v>80.84</c:v>
                </c:pt>
                <c:pt idx="27">
                  <c:v>73.16</c:v>
                </c:pt>
                <c:pt idx="28">
                  <c:v>75.28</c:v>
                </c:pt>
                <c:pt idx="29">
                  <c:v>58.97</c:v>
                </c:pt>
                <c:pt idx="30">
                  <c:v>62.58</c:v>
                </c:pt>
                <c:pt idx="31">
                  <c:v>67.86</c:v>
                </c:pt>
                <c:pt idx="32">
                  <c:v>69.29</c:v>
                </c:pt>
                <c:pt idx="33">
                  <c:v>72.86</c:v>
                </c:pt>
                <c:pt idx="34">
                  <c:v>73.67</c:v>
                </c:pt>
                <c:pt idx="35">
                  <c:v>62.72</c:v>
                </c:pt>
                <c:pt idx="36">
                  <c:v>69.6</c:v>
                </c:pt>
                <c:pt idx="37">
                  <c:v>73.84</c:v>
                </c:pt>
                <c:pt idx="38">
                  <c:v>88.84</c:v>
                </c:pt>
                <c:pt idx="39">
                  <c:v>92.11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  <c:tickLblSkip val="6"/>
        <c:tickMarkSkip val="6"/>
      </c:catAx>
      <c:valAx>
        <c:axId val="2140495176"/>
        <c:scaling>
          <c:max val="120.0"/>
          <c:min val="3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2118791784"/>
        <c:crosses val="autoZero"/>
        <c:majorUnit val="30.0"/>
      </c:valAx>
    </c:plotArea>
    <c:legend>
      <c:legendPos val="b"/>
      <c:layout/>
      <c:overlay val="0"/>
      <c:txPr>
        <a:bodyPr/>
        <a:lstStyle/>
        <a:p>
          <a:pPr>
            <a:defRPr sz="1200"/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Hyperscaler capex（十億美元）與年增率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Hyperscaler capex（十億美元）</c:v>
                </c:pt>
              </c:strCache>
            </c:strRef>
          </c:tx>
          <c:spPr>
            <a:solidFill>
              <a:srgbClr val="8C96A0"/>
            </a:solidFill>
          </c:spPr>
          <c:dPt>
            <c:idx val="1"/>
            <c:spPr>
              <a:solidFill>
                <a:srgbClr val="0065B2"/>
              </a:solidFill>
            </c:spPr>
          </c:dPt>
          <c:dPt>
            <c:idx val="2"/>
            <c:spPr>
              <a:solidFill>
                <a:srgbClr val="0065B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466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917（+99%）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1,467（+60%）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34976"/>
                        </a:solidFill>
                      </a:rPr>
                      <a:t>1,636（+12%）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2026E</c:v>
                </c:pt>
                <c:pt idx="2">
                  <c:v>2027E</c:v>
                </c:pt>
                <c:pt idx="3">
                  <c:v>2028E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466</c:v>
                </c:pt>
                <c:pt idx="1">
                  <c:v>917</c:v>
                </c:pt>
                <c:pt idx="2">
                  <c:v>1467</c:v>
                </c:pt>
                <c:pt idx="3">
                  <c:v>1636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9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234976"/>
                </a:solidFill>
              </a:rPr>
              <a:t>9 月至 9/16 報酬（%）：只有 Mag 7 上漲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9 月至 9/16 報酬（%）</c:v>
                </c:pt>
              </c:strCache>
            </c:strRef>
          </c:tx>
          <c:spPr>
            <a:solidFill>
              <a:srgbClr val="8C96A0"/>
            </a:solidFill>
          </c:spPr>
          <c:invertIfNegative val="0"/>
          <c:dPt>
            <c:idx val="5"/>
            <c:spPr>
              <a:solidFill>
                <a:srgbClr val="0065B2"/>
              </a:solidFill>
            </c:spPr>
          </c:dPt>
          <c:cat>
            <c:strRef>
              <c:f>Sheet1!$A$2:$A$7</c:f>
              <c:strCache>
                <c:ptCount val="6"/>
                <c:pt idx="0">
                  <c:v>SOX</c:v>
                </c:pt>
                <c:pt idx="1">
                  <c:v>Russell 2000</c:v>
                </c:pt>
                <c:pt idx="2">
                  <c:v>S&amp;P 500 等權重</c:v>
                </c:pt>
                <c:pt idx="3">
                  <c:v>Nasdaq 100</c:v>
                </c:pt>
                <c:pt idx="4">
                  <c:v>S&amp;P 500</c:v>
                </c:pt>
                <c:pt idx="5">
                  <c:v>Mag 7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-3.1</c:v>
                </c:pt>
                <c:pt idx="1">
                  <c:v>-2.9</c:v>
                </c:pt>
                <c:pt idx="2">
                  <c:v>-2.6</c:v>
                </c:pt>
                <c:pt idx="3">
                  <c:v>-1.8</c:v>
                </c:pt>
                <c:pt idx="4">
                  <c:v>-1.3</c:v>
                </c:pt>
                <c:pt idx="5">
                  <c:v>1.3</c:v>
                </c:pt>
              </c:numCache>
            </c:numRef>
          </c:val>
        </c:ser>
        <c:dLbls>
          <c:numFmt formatCode="+0.0;-0.0" sourceLinked="0"/>
          <c:txPr>
            <a:bodyPr/>
            <a:lstStyle/>
            <a:p>
              <a:pPr>
                <a:defRPr sz="1200" b="1">
                  <a:solidFill>
                    <a:srgbClr val="23497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0"/>
          <c:min val="-4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595959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4" y="4"/>
            <a:ext cx="2949787" cy="498693"/>
          </a:xfrm>
          <a:prstGeom prst="rect">
            <a:avLst/>
          </a:prstGeom>
        </p:spPr>
        <p:txBody>
          <a:bodyPr vert="horz" lIns="91415" tIns="45704" rIns="91415" bIns="4570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5842" y="4"/>
            <a:ext cx="2949787" cy="498693"/>
          </a:xfrm>
          <a:prstGeom prst="rect">
            <a:avLst/>
          </a:prstGeom>
        </p:spPr>
        <p:txBody>
          <a:bodyPr vert="horz" lIns="91415" tIns="45704" rIns="91415" bIns="45704" rtlCol="0"/>
          <a:lstStyle>
            <a:lvl1pPr algn="r">
              <a:defRPr sz="1200"/>
            </a:lvl1pPr>
          </a:lstStyle>
          <a:p>
            <a:fld id="{C5105F31-D6E8-48E1-BBA8-A78D94CD499A}" type="datetimeFigureOut">
              <a:rPr lang="zh-TW" altLang="en-US" smtClean="0"/>
              <a:t>2026/4/25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1425"/>
            <a:ext cx="5965825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15" tIns="45704" rIns="91415" bIns="4570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0721" y="4783307"/>
            <a:ext cx="5445760" cy="3913614"/>
          </a:xfrm>
          <a:prstGeom prst="rect">
            <a:avLst/>
          </a:prstGeom>
        </p:spPr>
        <p:txBody>
          <a:bodyPr vert="horz" lIns="91415" tIns="45704" rIns="91415" bIns="45704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4" y="9440651"/>
            <a:ext cx="2949787" cy="498692"/>
          </a:xfrm>
          <a:prstGeom prst="rect">
            <a:avLst/>
          </a:prstGeom>
        </p:spPr>
        <p:txBody>
          <a:bodyPr vert="horz" lIns="91415" tIns="45704" rIns="91415" bIns="4570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5842" y="9440651"/>
            <a:ext cx="2949787" cy="498692"/>
          </a:xfrm>
          <a:prstGeom prst="rect">
            <a:avLst/>
          </a:prstGeom>
        </p:spPr>
        <p:txBody>
          <a:bodyPr vert="horz" lIns="91415" tIns="45704" rIns="91415" bIns="45704" rtlCol="0" anchor="b"/>
          <a:lstStyle>
            <a:lvl1pPr algn="r">
              <a:defRPr sz="1200"/>
            </a:lvl1pPr>
          </a:lstStyle>
          <a:p>
            <a:fld id="{A7042647-0118-4519-B1FD-F957CD7154F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2410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核心訊息：延伸原文的預期 vs TP 框架並用市場資料驗證。9 月分成兩段：9/22 以前是預期主導的熊市變平，9/23 起是 TP 主導的熊市變陡，MOVE、TP、HY 利差同時跳升。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動機：美伊開戰以來 10Y 從 3.94% 漲到 9/30 的 5.28%，但 5–8 月 MOVE 平均只有 73，約為歷史中位數，因為上漲是緩慢推進（10Y 每天平均只動 3.7 bp）。MOVE 到 9/23 之後才跳升。這份報告要回答三個問題：誰推升了殖利率、為什麼 Vol 這麼晚才反應、現在是補漲還是失序。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承接背景頁：市場熱烈討論的兩個說法（能源衝擊讓通膨預期脫錨、政府發債推升財政溢價）都和數據不符。殖利率上升幾乎全來自實質利率，原文認為主因是政策利率預期上修，以及 AI 投資競逐長期資本，而後者又會推升前者。延伸來看，DKW 顯示實質利率裡近四成是實質 TP，這也是後面要討論 AI 融資的原因。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論述：數據顯示上升的是實質利率而不是通膨預期，DKW 又把實質利率拆成預期實質短率與實質 TP。AI 融資剛好同時對應這兩塊：資本支出推高中性利率，大量發債增加長天期供給。信用管道則說明 AI 融資也可能是有序變失序的觸發點。目前證據是形狀吻合，還不是因果證明，需要補發債時程與 AI 發行人 CDS 的時間序列。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模型把長天期殖利率拆成「市場預期的未來短率平均」與「期限溢酬」。預期看不到，只能靠模型估計，所以不同模型的 TP 常差 10–20 bp。Kim-Wright 是三因子無套利仿射模型，只用名目公債與短率調查；DKW 用同樣的架構同時為名目公債與 TIPS 定價，加入通膨資料、通膨調查與 TIPS 流動性因子，因此能把實質利率與通膨拆開。DKW 的四個成分加總等於模型配適的名目殖利率，在 Fed 公布的資料中精確成立。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 與 Kim-Wright 對 TP 份量差很多；兩者都顯示 7 月起 TP 持續上升。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DKW 把名目殖利率拆成四塊。實質部分（預期實質短率＋實質 TP）約 +42 bp，其中實質 TP 約 16 bp。進一步拆開實質利率，能看出期限溢酬的份量。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第一階段：短端領漲，符合升息預期重定價；Vol 與信用平靜。第二階段：短端不動、長端大跌，曲線轉陡，MOVE、TP、HY 利差同時跳升，就是原文說的 regime change，而且有明確日期。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MOVE 跳升主要是實際波動上升（補漲），但 IV − RV 也從 +4 擴大到 +15，落在歷史第 86 百分位。開戰衝擊與 2025/4 關稅衝擊時約 +28～+29（第 95 百分位），所以目前算初期失序。另外，5–8 月 MOVE 低是因為實際波動也低（IV − RV ≈ 0），只有 5 月底到 7 月初 IV 落後實際波動約 7 bp。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jpe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(一般內外部使用)封面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F60A8F5F-83B1-BC42-302A-BEBBDE3575B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91195" y="3722655"/>
            <a:ext cx="8618046" cy="792089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8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Enter your subtitle here</a:t>
            </a:r>
            <a:r>
              <a:rPr lang="en-US" altLang="zh-TW"/>
              <a:t>/</a:t>
            </a:r>
            <a:r>
              <a:rPr lang="zh-TW" altLang="en-US"/>
              <a:t>副標題</a:t>
            </a:r>
            <a:endParaRPr lang="en-GB"/>
          </a:p>
        </p:txBody>
      </p:sp>
      <p:sp>
        <p:nvSpPr>
          <p:cNvPr id="11" name="Title 15">
            <a:extLst>
              <a:ext uri="{FF2B5EF4-FFF2-40B4-BE49-F238E27FC236}">
                <a16:creationId xmlns:a16="http://schemas.microsoft.com/office/drawing/2014/main" id="{5E29903C-3A77-04D4-EB8D-620930D430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1195" y="1809825"/>
            <a:ext cx="8618046" cy="1836000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ctr">
              <a:lnSpc>
                <a:spcPct val="120000"/>
              </a:lnSpc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en-US"/>
              <a:t>Enter your title here</a:t>
            </a:r>
            <a:r>
              <a:rPr lang="en-US" altLang="zh-TW"/>
              <a:t>/</a:t>
            </a:r>
            <a:r>
              <a:rPr lang="zh-TW" altLang="en-US"/>
              <a:t>標題</a:t>
            </a:r>
            <a:endParaRPr lang="en-GB"/>
          </a:p>
        </p:txBody>
      </p:sp>
      <p:sp>
        <p:nvSpPr>
          <p:cNvPr id="13" name="Text Placeholder 31">
            <a:extLst>
              <a:ext uri="{FF2B5EF4-FFF2-40B4-BE49-F238E27FC236}">
                <a16:creationId xmlns:a16="http://schemas.microsoft.com/office/drawing/2014/main" id="{16339BFE-A765-8F29-853A-156DD08A01A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51084" y="5643096"/>
            <a:ext cx="2098266" cy="43201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zh-TW"/>
              <a:t>yyyy.mm.dd</a:t>
            </a:r>
            <a:endParaRPr lang="en-GB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83798FD-4237-3530-57E2-BF152C1FB444}"/>
              </a:ext>
            </a:extLst>
          </p:cNvPr>
          <p:cNvSpPr/>
          <p:nvPr/>
        </p:nvSpPr>
        <p:spPr bwMode="auto">
          <a:xfrm>
            <a:off x="1616149" y="1360967"/>
            <a:ext cx="8952614" cy="4890977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36000" rIns="36000" bIns="3600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en-US" sz="1200" b="1" i="0" u="none" strike="noStrike" cap="none" normalizeH="0" baseline="0" err="1">
              <a:ln>
                <a:noFill/>
              </a:ln>
              <a:solidFill>
                <a:schemeClr val="accent1"/>
              </a:solidFill>
              <a:effectLst/>
              <a:latin typeface="Arial" charset="0"/>
            </a:endParaRPr>
          </a:p>
        </p:txBody>
      </p:sp>
      <p:sp>
        <p:nvSpPr>
          <p:cNvPr id="15" name="Text Placeholder 31">
            <a:extLst>
              <a:ext uri="{FF2B5EF4-FFF2-40B4-BE49-F238E27FC236}">
                <a16:creationId xmlns:a16="http://schemas.microsoft.com/office/drawing/2014/main" id="{58110868-E592-43CE-C4AB-DD61449BC23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1194" y="4586751"/>
            <a:ext cx="8618046" cy="9720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Business Division</a:t>
            </a:r>
            <a:r>
              <a:rPr lang="zh-TW" altLang="en-US"/>
              <a:t> </a:t>
            </a:r>
            <a:r>
              <a:rPr lang="en-US"/>
              <a:t>/</a:t>
            </a:r>
            <a:r>
              <a:rPr lang="zh-TW" altLang="en-US"/>
              <a:t> </a:t>
            </a:r>
            <a:r>
              <a:rPr lang="en-US"/>
              <a:t>Department</a:t>
            </a:r>
          </a:p>
          <a:p>
            <a:pPr lvl="0"/>
            <a:r>
              <a:rPr lang="en-US"/>
              <a:t>Name / Presenter</a:t>
            </a:r>
            <a:br>
              <a:rPr lang="en-US"/>
            </a:br>
            <a:r>
              <a:rPr lang="en-US"/>
              <a:t>Company Name</a:t>
            </a:r>
            <a:endParaRPr lang="en-GB"/>
          </a:p>
        </p:txBody>
      </p:sp>
      <p:pic>
        <p:nvPicPr>
          <p:cNvPr id="3" name="圖片 2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A7986CD2-F276-6498-491B-323EEFD6B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16" y="359440"/>
            <a:ext cx="3940079" cy="90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6793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對外使用）封面_高階主管/公司介紹使用_藍色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圖片 12" descr="一張含有 戶外, 高層建築物, 天空, 大都會區 的圖片&#10;&#10;AI 產生的內容可能不正確。">
            <a:extLst>
              <a:ext uri="{FF2B5EF4-FFF2-40B4-BE49-F238E27FC236}">
                <a16:creationId xmlns:a16="http://schemas.microsoft.com/office/drawing/2014/main" id="{DF5989F6-64B7-FE34-C5CF-1D81725B96C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14959" r="15051" b="19693"/>
          <a:stretch/>
        </p:blipFill>
        <p:spPr>
          <a:xfrm>
            <a:off x="-1" y="0"/>
            <a:ext cx="12192000" cy="3169920"/>
          </a:xfrm>
          <a:prstGeom prst="rect">
            <a:avLst/>
          </a:prstGeom>
        </p:spPr>
      </p:pic>
      <p:sp>
        <p:nvSpPr>
          <p:cNvPr id="3" name="Text Placeholder 31">
            <a:extLst>
              <a:ext uri="{FF2B5EF4-FFF2-40B4-BE49-F238E27FC236}">
                <a16:creationId xmlns:a16="http://schemas.microsoft.com/office/drawing/2014/main" id="{3B1259DF-3F56-1023-6F8B-5567F7CE39B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416000" y="4971319"/>
            <a:ext cx="9360000" cy="668217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Business Division</a:t>
            </a:r>
            <a:r>
              <a:rPr lang="zh-TW" altLang="en-US"/>
              <a:t> </a:t>
            </a:r>
            <a:r>
              <a:rPr lang="en-US"/>
              <a:t>/</a:t>
            </a:r>
            <a:r>
              <a:rPr lang="zh-TW" altLang="en-US"/>
              <a:t> </a:t>
            </a:r>
            <a:r>
              <a:rPr lang="en-US"/>
              <a:t>Department</a:t>
            </a:r>
            <a:br>
              <a:rPr lang="en-US"/>
            </a:br>
            <a:r>
              <a:rPr lang="en-US" altLang="zh-TW"/>
              <a:t>Company Name</a:t>
            </a:r>
            <a:endParaRPr lang="en-GB"/>
          </a:p>
        </p:txBody>
      </p:sp>
      <p:sp>
        <p:nvSpPr>
          <p:cNvPr id="4" name="Title 15">
            <a:extLst>
              <a:ext uri="{FF2B5EF4-FFF2-40B4-BE49-F238E27FC236}">
                <a16:creationId xmlns:a16="http://schemas.microsoft.com/office/drawing/2014/main" id="{F9C7FD12-AEFC-2930-499D-9C95070DA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16001" y="3489523"/>
            <a:ext cx="9360000" cy="1440971"/>
          </a:xfrm>
          <a:prstGeom prst="rect">
            <a:avLst/>
          </a:prstGeom>
        </p:spPr>
        <p:txBody>
          <a:bodyPr lIns="0" tIns="0" rIns="0" bIns="0" anchor="ctr" anchorCtr="0"/>
          <a:lstStyle>
            <a:lvl1pPr algn="ctr">
              <a:lnSpc>
                <a:spcPct val="120000"/>
              </a:lnSpc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en-US"/>
              <a:t>Enter your title here</a:t>
            </a:r>
            <a:r>
              <a:rPr lang="en-US" altLang="zh-TW"/>
              <a:t>/</a:t>
            </a:r>
            <a:r>
              <a:rPr lang="zh-TW" altLang="en-US"/>
              <a:t>標題</a:t>
            </a:r>
            <a:endParaRPr lang="en-GB"/>
          </a:p>
        </p:txBody>
      </p:sp>
      <p:sp>
        <p:nvSpPr>
          <p:cNvPr id="7" name="Text Placeholder 31">
            <a:extLst>
              <a:ext uri="{FF2B5EF4-FFF2-40B4-BE49-F238E27FC236}">
                <a16:creationId xmlns:a16="http://schemas.microsoft.com/office/drawing/2014/main" id="{2B94C9C1-7667-DE81-6681-05C779E47D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46867" y="5680361"/>
            <a:ext cx="2098266" cy="432016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tx2"/>
                </a:solidFill>
                <a:latin typeface="+mn-lt"/>
                <a:ea typeface="+mn-ea"/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altLang="zh-TW"/>
              <a:t>yyyy.mm.dd</a:t>
            </a:r>
            <a:endParaRPr lang="en-GB"/>
          </a:p>
        </p:txBody>
      </p:sp>
      <p:pic>
        <p:nvPicPr>
          <p:cNvPr id="6" name="圖片 5" descr="一張含有 螢幕擷取畫面 的圖片&#10;&#10;AI 產生的內容可能不正確。">
            <a:extLst>
              <a:ext uri="{FF2B5EF4-FFF2-40B4-BE49-F238E27FC236}">
                <a16:creationId xmlns:a16="http://schemas.microsoft.com/office/drawing/2014/main" id="{2076D68A-CB22-5CD8-834C-1C410D477B8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93499"/>
          <a:stretch/>
        </p:blipFill>
        <p:spPr>
          <a:xfrm>
            <a:off x="0" y="0"/>
            <a:ext cx="12192000" cy="446646"/>
          </a:xfrm>
          <a:prstGeom prst="rect">
            <a:avLst/>
          </a:prstGeom>
        </p:spPr>
      </p:pic>
      <p:pic>
        <p:nvPicPr>
          <p:cNvPr id="5" name="圖片 4" descr="一張含有 文字, 字型, 標誌, 圖形 的圖片&#10;&#10;AI 產生的內容可能不正確。">
            <a:extLst>
              <a:ext uri="{FF2B5EF4-FFF2-40B4-BE49-F238E27FC236}">
                <a16:creationId xmlns:a16="http://schemas.microsoft.com/office/drawing/2014/main" id="{28F8E197-46D8-FD2A-0828-AB6466910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06" y="366462"/>
            <a:ext cx="3919927" cy="904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660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目錄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8C1BCC7A-9476-882C-ED32-34B76EEDC21A}"/>
              </a:ext>
            </a:extLst>
          </p:cNvPr>
          <p:cNvCxnSpPr/>
          <p:nvPr/>
        </p:nvCxnSpPr>
        <p:spPr>
          <a:xfrm>
            <a:off x="2245360" y="772160"/>
            <a:ext cx="0" cy="48260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B70787CD-36F0-3EFD-89D4-CDAB8A2B002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3170" y="792480"/>
            <a:ext cx="8618046" cy="4826000"/>
          </a:xfrm>
          <a:prstGeom prst="rect">
            <a:avLst/>
          </a:prstGeom>
        </p:spPr>
        <p:txBody>
          <a:bodyPr lIns="0" tIns="72000" rIns="0" bIns="0" anchor="t" anchorCtr="0"/>
          <a:lstStyle>
            <a:lvl1pPr marL="514350" indent="-51435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 sz="2400" b="1" baseline="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lvl="0"/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zh-TW" altLang="en-US"/>
              <a:t>章節標題</a:t>
            </a: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n-US" altLang="zh-TW"/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n-US" altLang="zh-TW"/>
          </a:p>
          <a:p>
            <a:pPr lvl="0"/>
            <a:endParaRPr lang="en-US" altLang="zh-TW"/>
          </a:p>
          <a:p>
            <a:pPr lvl="0"/>
            <a:endParaRPr lang="en-GB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D87517D7-B634-BF20-FD9D-FBBA8FDB4C9D}"/>
              </a:ext>
            </a:extLst>
          </p:cNvPr>
          <p:cNvSpPr txBox="1"/>
          <p:nvPr/>
        </p:nvSpPr>
        <p:spPr>
          <a:xfrm>
            <a:off x="610784" y="2600385"/>
            <a:ext cx="12496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200" b="1" kern="1200" baseline="0">
                <a:solidFill>
                  <a:schemeClr val="tx2"/>
                </a:solidFill>
                <a:latin typeface="+mj-lt"/>
                <a:ea typeface="+mj-ea"/>
                <a:cs typeface="+mn-cs"/>
              </a:rPr>
              <a:t>目錄</a:t>
            </a:r>
          </a:p>
        </p:txBody>
      </p:sp>
    </p:spTree>
    <p:extLst>
      <p:ext uri="{BB962C8B-B14F-4D97-AF65-F5344CB8AC3E}">
        <p14:creationId xmlns:p14="http://schemas.microsoft.com/office/powerpoint/2010/main" val="2497526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通用）過場頁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6D791A4D-5205-4352-88AE-97FD7C1F3A2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89997" y="2313647"/>
            <a:ext cx="8861538" cy="1368000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36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Enter your section here</a:t>
            </a:r>
            <a:r>
              <a:rPr lang="en-US" altLang="zh-TW"/>
              <a:t>/</a:t>
            </a:r>
            <a:r>
              <a:rPr lang="zh-TW" altLang="en-US"/>
              <a:t>過場頁</a:t>
            </a:r>
            <a:endParaRPr lang="en-GB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AF2F9EF8-0189-40EB-A178-BB8B489D7B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89997" y="3751989"/>
            <a:ext cx="8861538" cy="507600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1" baseline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US"/>
              <a:t>Enter your subsection here</a:t>
            </a:r>
            <a:endParaRPr lang="en-GB"/>
          </a:p>
        </p:txBody>
      </p:sp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D7F589AA-59B8-1AA5-5269-AE950DF4C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7689" y="5236250"/>
            <a:ext cx="2056178" cy="1368000"/>
          </a:xfrm>
          <a:prstGeom prst="rect">
            <a:avLst/>
          </a:prstGeom>
        </p:spPr>
        <p:txBody>
          <a:bodyPr lIns="0" tIns="72000" rIns="0" bIns="0" anchor="ctr" anchorCtr="0"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4000" b="1" baseline="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en-GB"/>
              <a:t>01</a:t>
            </a:r>
            <a:r>
              <a:rPr lang="en-US" altLang="zh-TW"/>
              <a:t>/</a:t>
            </a:r>
            <a:r>
              <a:rPr lang="zh-TW" altLang="en-US"/>
              <a:t>章節</a:t>
            </a:r>
            <a:endParaRPr lang="en-GB"/>
          </a:p>
        </p:txBody>
      </p:sp>
      <p:pic>
        <p:nvPicPr>
          <p:cNvPr id="3" name="圖片 2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70425691-2F5D-1B38-622A-C698AAA94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642" y="6343628"/>
            <a:ext cx="2431111" cy="56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168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（通用）感謝頁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1B2AC565-B4AC-412F-B16F-DC5E237291CB}"/>
              </a:ext>
            </a:extLst>
          </p:cNvPr>
          <p:cNvSpPr txBox="1"/>
          <p:nvPr/>
        </p:nvSpPr>
        <p:spPr>
          <a:xfrm>
            <a:off x="3911600" y="2875002"/>
            <a:ext cx="43688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6600" b="1">
                <a:solidFill>
                  <a:schemeClr val="tx2"/>
                </a:solidFill>
              </a:rPr>
              <a:t>THANK</a:t>
            </a:r>
            <a:r>
              <a:rPr kumimoji="1" lang="zh-TW" altLang="en-US" sz="6600" b="1">
                <a:solidFill>
                  <a:schemeClr val="tx2"/>
                </a:solidFill>
              </a:rPr>
              <a:t> </a:t>
            </a:r>
            <a:r>
              <a:rPr kumimoji="1" lang="en-US" altLang="zh-TW" sz="6600" b="1">
                <a:solidFill>
                  <a:schemeClr val="tx2"/>
                </a:solidFill>
              </a:rPr>
              <a:t>YOU</a:t>
            </a:r>
            <a:endParaRPr kumimoji="1" lang="zh-TW" altLang="en-US" sz="6600" b="1">
              <a:solidFill>
                <a:schemeClr val="tx2"/>
              </a:solidFill>
            </a:endParaRPr>
          </a:p>
        </p:txBody>
      </p:sp>
      <p:pic>
        <p:nvPicPr>
          <p:cNvPr id="4" name="圖片 3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3BF6A9C3-3AD0-FB3E-14AA-5427C2BF0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16" y="359440"/>
            <a:ext cx="3940079" cy="908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1276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07988" y="1203650"/>
            <a:ext cx="11323328" cy="51411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64800" rIns="46800" bIns="64800"/>
          <a:lstStyle>
            <a:lvl1pPr marL="342900" indent="-342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87338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marR="0" indent="-215900" algn="l" defTabSz="8953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tabLst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5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altLang="zh-TW"/>
              <a:t>Click to add text</a:t>
            </a:r>
          </a:p>
          <a:p>
            <a:pPr lvl="1"/>
            <a:r>
              <a:rPr lang="en-GB" altLang="zh-TW"/>
              <a:t>Level 1</a:t>
            </a:r>
          </a:p>
          <a:p>
            <a:pPr lvl="2"/>
            <a:r>
              <a:rPr lang="en-GB" altLang="zh-TW"/>
              <a:t>Level 2</a:t>
            </a:r>
          </a:p>
          <a:p>
            <a:pPr lvl="3"/>
            <a:r>
              <a:rPr lang="en-GB" altLang="zh-TW"/>
              <a:t>Level 3</a:t>
            </a:r>
          </a:p>
          <a:p>
            <a:pPr lvl="4"/>
            <a:r>
              <a:rPr lang="en-GB" altLang="zh-TW"/>
              <a:t>Level 4</a:t>
            </a:r>
          </a:p>
        </p:txBody>
      </p:sp>
      <p:sp>
        <p:nvSpPr>
          <p:cNvPr id="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4229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42">
          <p15:clr>
            <a:srgbClr val="FBAE40"/>
          </p15:clr>
        </p15:guide>
        <p15:guide id="2" pos="75">
          <p15:clr>
            <a:srgbClr val="FBAE40"/>
          </p15:clr>
        </p15:guide>
        <p15:guide id="3" orient="horz" pos="75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7970D2F-BD06-470D-9E52-3C26FE963FA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28775"/>
            <a:ext cx="11323328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64800" rIns="46800" bIns="64800"/>
          <a:lstStyle>
            <a:lvl1pPr marL="342900" indent="-342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5475" indent="-287338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marR="0" indent="-215900" algn="l" defTabSz="895350" rtl="0" eaLnBrk="1" fontAlgn="base" latinLnBrk="0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tabLst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59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 altLang="zh-TW"/>
              <a:t>Click to add text</a:t>
            </a:r>
          </a:p>
          <a:p>
            <a:pPr lvl="1"/>
            <a:r>
              <a:rPr lang="en-GB" altLang="zh-TW"/>
              <a:t>Level 1</a:t>
            </a:r>
          </a:p>
          <a:p>
            <a:pPr lvl="2"/>
            <a:r>
              <a:rPr lang="en-GB" altLang="zh-TW"/>
              <a:t>Level 2</a:t>
            </a:r>
          </a:p>
          <a:p>
            <a:pPr lvl="3"/>
            <a:r>
              <a:rPr lang="en-GB" altLang="zh-TW"/>
              <a:t>Level 3</a:t>
            </a:r>
          </a:p>
          <a:p>
            <a:pPr lvl="4"/>
            <a:r>
              <a:rPr lang="en-GB" altLang="zh-TW"/>
              <a:t>Level 4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8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7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044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pos="7401">
          <p15:clr>
            <a:srgbClr val="FBAE40"/>
          </p15:clr>
        </p15:guide>
        <p15:guide id="3" pos="9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07988" y="2024064"/>
            <a:ext cx="11332509" cy="4321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07988" y="1586507"/>
            <a:ext cx="11332509" cy="359941"/>
          </a:xfrm>
          <a:prstGeom prst="callout1">
            <a:avLst>
              <a:gd name="adj1" fmla="val 100536"/>
              <a:gd name="adj2" fmla="val 100112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8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983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906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">
          <p15:clr>
            <a:srgbClr val="FBAE40"/>
          </p15:clr>
        </p15:guide>
        <p15:guide id="2" orient="horz" pos="4042">
          <p15:clr>
            <a:srgbClr val="FBAE40"/>
          </p15:clr>
        </p15:guide>
        <p15:guide id="3" pos="257">
          <p15:clr>
            <a:srgbClr val="FBAE40"/>
          </p15:clr>
        </p15:guide>
        <p15:guide id="4" orient="horz" pos="123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F641177-0307-4560-B9E4-B0B53B756C21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407988" y="4221163"/>
            <a:ext cx="11332509" cy="2124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A1A0AB36-A5D0-42CC-9CAC-1F9062CB674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3799929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tabLst>
                <a:tab pos="11303000" algn="l"/>
              </a:tabLst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08441594-DCE9-48B3-AC8B-4B1A05646A35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41258"/>
            <a:ext cx="11332509" cy="21219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55099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">
          <p15:clr>
            <a:srgbClr val="FBAE40"/>
          </p15:clr>
        </p15:guide>
        <p15:guide id="2" orient="horz" pos="102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005263"/>
            <a:ext cx="11332509" cy="2339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41258"/>
            <a:ext cx="11332509" cy="23274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8600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23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184649"/>
            <a:ext cx="11332509" cy="2160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F8B2D3E-5FAF-4BD3-83CF-ABF4E867FE22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407988" y="3740933"/>
            <a:ext cx="11341100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1600759"/>
            <a:ext cx="11332509" cy="2140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706B56A-B43E-46BE-829B-5B4F9E5C1E7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148466"/>
            <a:ext cx="11341100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7074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">
          <p15:clr>
            <a:srgbClr val="FBAE40"/>
          </p15:clr>
        </p15:guide>
        <p15:guide id="2" orient="horz" pos="2364">
          <p15:clr>
            <a:srgbClr val="FBAE40"/>
          </p15:clr>
        </p15:guide>
        <p15:guide id="3" orient="horz" pos="958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E7749205-7EA5-4CF8-ADAE-F732A75E41E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4400550"/>
            <a:ext cx="11332509" cy="19499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F8B2D3E-5FAF-4BD3-83CF-ABF4E867FE22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407988" y="3971929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93354292-6AE1-456F-B6EF-8B4220C761E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2024065"/>
            <a:ext cx="11332509" cy="19478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706B56A-B43E-46BE-829B-5B4F9E5C1E7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1581227"/>
            <a:ext cx="11332509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79966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57">
          <p15:clr>
            <a:srgbClr val="FBAE40"/>
          </p15:clr>
        </p15:guide>
        <p15:guide id="3" orient="horz" pos="123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B6BC5F27-E9F6-40C0-A26F-CF6C4705AD90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1628775"/>
            <a:ext cx="5627077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79FBBDF0-3048-45E6-BC86-D9360370AE6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1628775"/>
            <a:ext cx="5616817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5155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58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81E5CD1F-EEF3-4B76-9600-987011CA4DC0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14668" y="1592263"/>
            <a:ext cx="5627077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D2CCDD8-CD6C-4694-80B7-D006A02B3E6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163582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97C5BC3-DE11-4D67-B5C9-A8B64DCAE1E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3"/>
            <a:ext cx="56177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00377B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DEC377B-27BC-41D7-9506-CFEF46B4C2C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163582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4754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7615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8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81E5CD1F-EEF3-4B76-9600-987011CA4DC0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14668" y="2024063"/>
            <a:ext cx="5627077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3D2CCDD8-CD6C-4694-80B7-D006A02B3E60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586827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697C5BC3-DE11-4D67-B5C9-A8B64DCAE1E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5627077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DEC377B-27BC-41D7-9506-CFEF46B4C2CA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586827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74235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C100C42-5E9D-4091-84A9-440B7CE7846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7996221" y="2024062"/>
            <a:ext cx="374427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8FCA33D-A51F-4D84-B111-CA8D6AC2971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7996222" y="1623524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67B5954-1385-48E5-AD7D-8B8C411D182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2"/>
            <a:ext cx="7532308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00AB72A-EC65-4F02-8DC3-FE8C0D35D2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3524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0912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C100C42-5E9D-4091-84A9-440B7CE7846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7996221" y="1592263"/>
            <a:ext cx="374427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8FCA33D-A51F-4D84-B111-CA8D6AC29718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7996222" y="1200808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67B5954-1385-48E5-AD7D-8B8C411D182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592263"/>
            <a:ext cx="7532308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00AB72A-EC65-4F02-8DC3-FE8C0D35D22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200808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489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06A32DA9-22F2-4A3D-BA67-3C8FFCC36EF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08189" y="2017392"/>
            <a:ext cx="7532308" cy="4327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9A0E0F3-2363-431F-B9FE-11A29C0B589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08189" y="1624881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65BDF907-55AE-4364-BF69-106DE4CB73C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17392"/>
            <a:ext cx="3744276" cy="4327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42AC367-969B-409A-B073-47505136EA9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4881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67096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06A32DA9-22F2-4A3D-BA67-3C8FFCC36EF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208189" y="1592264"/>
            <a:ext cx="7532308" cy="4752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9A0E0F3-2363-431F-B9FE-11A29C0B589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208189" y="1192833"/>
            <a:ext cx="753230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65BDF907-55AE-4364-BF69-106DE4CB73C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4"/>
            <a:ext cx="3744276" cy="47529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342AC367-969B-409A-B073-47505136EA9F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192833"/>
            <a:ext cx="374400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2648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740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5"/>
            <a:ext cx="3721846" cy="47164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2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9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71737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E59EDE55-BE84-4286-8647-C2DFD74C49B9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8018651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C153065-F8B6-4F3F-ACAC-59C27A291C90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4208190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2"/>
            <a:ext cx="3721846" cy="432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2EE0621-83CB-4E64-9568-F4FC79F562D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4879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170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9864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EBE24FD-EABC-45BC-9665-2018373F1AD6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8018651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E59EDE55-BE84-4286-8647-C2DFD74C49B9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8018651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B9738322-B0A7-43D6-9A48-3EB11AE6BF25}"/>
              </a:ext>
            </a:extLst>
          </p:cNvPr>
          <p:cNvSpPr>
            <a:spLocks noGrp="1"/>
          </p:cNvSpPr>
          <p:nvPr>
            <p:ph sz="half" idx="44" hasCustomPrompt="1"/>
          </p:nvPr>
        </p:nvSpPr>
        <p:spPr>
          <a:xfrm>
            <a:off x="4208190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EC153065-F8B6-4F3F-ACAC-59C27A291C90}"/>
              </a:ext>
            </a:extLst>
          </p:cNvPr>
          <p:cNvSpPr>
            <a:spLocks noGrp="1"/>
          </p:cNvSpPr>
          <p:nvPr>
            <p:ph type="body" idx="45" hasCustomPrompt="1"/>
          </p:nvPr>
        </p:nvSpPr>
        <p:spPr>
          <a:xfrm>
            <a:off x="4208190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0E76A39-11A0-49F3-84EA-6CDBBD44FFE6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592263"/>
            <a:ext cx="3721846" cy="4752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1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2EE0621-83CB-4E64-9568-F4FC79F562D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19283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9602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41CB5B44-019E-4F14-97DD-AF23159E78D5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4221162"/>
            <a:ext cx="5627077" cy="21240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7D70E5A9-41E4-4D45-AD38-1F3CEF9393A6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3800111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A5CDEB7-0FA8-4B31-8E06-F3541629D6D2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4221162"/>
            <a:ext cx="5627077" cy="2124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5E03F30-C1F6-4313-B163-2883AE1B5C5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3800115"/>
            <a:ext cx="5627077" cy="359941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343FAD0A-B607-4163-B361-C1F3CB5A511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636325"/>
            <a:ext cx="11342769" cy="21359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62227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93">
          <p15:clr>
            <a:srgbClr val="FBAE40"/>
          </p15:clr>
        </p15:guide>
        <p15:guide id="2" pos="166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84811C8C-D164-4F4D-AD44-98CB92E36BA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6096000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CADF248-2631-4CFE-97EF-BF644B2ABD7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096000" y="400320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FF3DB458-A060-417D-B654-E47BCA53AF0C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096000" y="2033519"/>
            <a:ext cx="5645745" cy="19331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B7E22BA-CF60-4734-86C2-62CA4BD0DAA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612784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7BFC82F-F4DD-48AE-9909-B6D1FCEA28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6"/>
            <a:ext cx="5627077" cy="4716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373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1679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3997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1298F483-478E-4996-824E-2A9E21F57FA5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1628776"/>
            <a:ext cx="5627077" cy="4716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86BAC8B7-A7AB-4EAE-B739-A053DAEB8A7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397728" y="4376274"/>
            <a:ext cx="5627077" cy="1968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6302218-2A0A-4BEC-B195-F4DB563AA797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97728" y="4006402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D565E152-5187-46E3-8C0D-4525F8A5272E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407988" y="2021771"/>
            <a:ext cx="5635485" cy="19355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A2A74A5-7B62-440F-A127-20221AA824A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397728" y="1614575"/>
            <a:ext cx="56457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4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6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1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64950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27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84811C8C-D164-4F4D-AD44-98CB92E36BA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6096000" y="4398355"/>
            <a:ext cx="5627077" cy="19468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1CADF248-2631-4CFE-97EF-BF644B2ABD7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6096000" y="4001009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FF3DB458-A060-417D-B654-E47BCA53AF0C}"/>
              </a:ext>
            </a:extLst>
          </p:cNvPr>
          <p:cNvSpPr>
            <a:spLocks noGrp="1"/>
          </p:cNvSpPr>
          <p:nvPr>
            <p:ph sz="half" idx="24" hasCustomPrompt="1"/>
          </p:nvPr>
        </p:nvSpPr>
        <p:spPr>
          <a:xfrm>
            <a:off x="6105337" y="2035318"/>
            <a:ext cx="5627077" cy="19313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B7E22BA-CF60-4734-86C2-62CA4BD0DAA8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114668" y="161896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C7BFC82F-F4DD-48AE-9909-B6D1FCEA28DA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407988" y="2035317"/>
            <a:ext cx="5616817" cy="43099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45A679F0-7236-4334-90D5-8BD873976C21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397728" y="1618969"/>
            <a:ext cx="562707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91198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3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1298F483-478E-4996-824E-2A9E21F57FA5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6113420" y="2030014"/>
            <a:ext cx="5627077" cy="43517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E36B0E1-6B8A-4A0D-9ADA-953E16F0539B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6113420" y="1614908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86BAC8B7-A7AB-4EAE-B739-A053DAEB8A76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>
          <a:xfrm>
            <a:off x="407926" y="4400549"/>
            <a:ext cx="5616880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C6302218-2A0A-4BEC-B195-F4DB563AA797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407926" y="4001007"/>
            <a:ext cx="5616880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D565E152-5187-46E3-8C0D-4525F8A5272E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407988" y="2030014"/>
            <a:ext cx="5635486" cy="19366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A2A74A5-7B62-440F-A127-20221AA824A3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407926" y="1613663"/>
            <a:ext cx="5635548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90735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  <p15:guide id="2" pos="234">
          <p15:clr>
            <a:srgbClr val="FBAE40"/>
          </p15:clr>
        </p15:guide>
        <p15:guide id="3" orient="horz" pos="250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13DAD6F2-9CD2-419A-AADB-9C6F463BAC5D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25D0F3B5-4CA9-457E-97EA-106D2B4E2E9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4000965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A6D3C757-C209-4BD9-B547-0247D170CC1F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4400550"/>
            <a:ext cx="5627077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E1F65459-E369-4A5E-B52E-535D7846BEC6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97728" y="4000965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50EBC26-A16E-4E46-83E1-7CE9406AAD39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2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67080BE1-CC31-4005-A203-224583BF000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7426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59126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72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7D1C4159-E098-4623-9DD4-1F6C7473EBB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4400550"/>
            <a:ext cx="11342769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5E0CF8A-F0A4-41A0-BB36-42D8B25C526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4010343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5E9867DA-A293-4509-815E-5276F56F5955}"/>
              </a:ext>
            </a:extLst>
          </p:cNvPr>
          <p:cNvSpPr>
            <a:spLocks noGrp="1"/>
          </p:cNvSpPr>
          <p:nvPr>
            <p:ph sz="half" idx="25" hasCustomPrompt="1"/>
          </p:nvPr>
        </p:nvSpPr>
        <p:spPr>
          <a:xfrm>
            <a:off x="6114668" y="2024063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C200E8F-3A6F-48C1-BC18-5705222CCE4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162749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0D2FFE41-070C-4FFF-B242-8193FF7A09B4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A47413EB-5A05-4C6F-A883-B11BF169F77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397728" y="1627497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5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1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2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47207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97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EE6E682E-FD01-4828-AF4F-FBE6B94B33F5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6114668" y="4005262"/>
            <a:ext cx="5627077" cy="23399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E7ECC9D-A491-4615-8321-CB464BFBF2D2}"/>
              </a:ext>
            </a:extLst>
          </p:cNvPr>
          <p:cNvSpPr>
            <a:spLocks noGrp="1"/>
          </p:cNvSpPr>
          <p:nvPr>
            <p:ph sz="half" idx="35" hasCustomPrompt="1"/>
          </p:nvPr>
        </p:nvSpPr>
        <p:spPr>
          <a:xfrm>
            <a:off x="397728" y="4005262"/>
            <a:ext cx="5627077" cy="23399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89281683-240E-4F10-BB66-46437D607E96}"/>
              </a:ext>
            </a:extLst>
          </p:cNvPr>
          <p:cNvSpPr>
            <a:spLocks noGrp="1"/>
          </p:cNvSpPr>
          <p:nvPr>
            <p:ph sz="half" idx="32" hasCustomPrompt="1"/>
          </p:nvPr>
        </p:nvSpPr>
        <p:spPr>
          <a:xfrm>
            <a:off x="6114668" y="1628775"/>
            <a:ext cx="5627077" cy="233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782D65-3C6F-466F-B2D8-2B6AE5892711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1628775"/>
            <a:ext cx="5627077" cy="2339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8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6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4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3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0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67768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0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EE6E682E-FD01-4828-AF4F-FBE6B94B33F5}"/>
              </a:ext>
            </a:extLst>
          </p:cNvPr>
          <p:cNvSpPr>
            <a:spLocks noGrp="1"/>
          </p:cNvSpPr>
          <p:nvPr>
            <p:ph sz="half" idx="36" hasCustomPrompt="1"/>
          </p:nvPr>
        </p:nvSpPr>
        <p:spPr>
          <a:xfrm>
            <a:off x="6114668" y="4415130"/>
            <a:ext cx="5627077" cy="193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0635956E-268B-43D9-BF45-7B785C33D71A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6114668" y="400101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E7ECC9D-A491-4615-8321-CB464BFBF2D2}"/>
              </a:ext>
            </a:extLst>
          </p:cNvPr>
          <p:cNvSpPr>
            <a:spLocks noGrp="1"/>
          </p:cNvSpPr>
          <p:nvPr>
            <p:ph sz="half" idx="35" hasCustomPrompt="1"/>
          </p:nvPr>
        </p:nvSpPr>
        <p:spPr>
          <a:xfrm>
            <a:off x="397728" y="4415130"/>
            <a:ext cx="5627077" cy="19301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6EB1493D-D832-4EC9-AA51-C637D57BB44D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397728" y="4001013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89281683-240E-4F10-BB66-46437D607E96}"/>
              </a:ext>
            </a:extLst>
          </p:cNvPr>
          <p:cNvSpPr>
            <a:spLocks noGrp="1"/>
          </p:cNvSpPr>
          <p:nvPr>
            <p:ph sz="half" idx="32" hasCustomPrompt="1"/>
          </p:nvPr>
        </p:nvSpPr>
        <p:spPr>
          <a:xfrm>
            <a:off x="6114668" y="2024062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FAB6F57-8C3A-4EB7-B362-4FFF671A710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14668" y="1622290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B782D65-3C6F-466F-B2D8-2B6AE5892711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2"/>
            <a:ext cx="5627077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45436DE-00A6-470B-B2AB-75773A761CAC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397728" y="1622290"/>
            <a:ext cx="5627077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4426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72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F408BB9B-AC52-40F8-A854-65380A49C106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618" y="4400550"/>
            <a:ext cx="7531879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7BEC4BC6-0E90-46D6-86FC-2BDFF9109B33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618" y="4003126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D805E85D-264E-48A1-93C9-ACE8F51FF69B}"/>
              </a:ext>
            </a:extLst>
          </p:cNvPr>
          <p:cNvSpPr>
            <a:spLocks noGrp="1"/>
          </p:cNvSpPr>
          <p:nvPr>
            <p:ph sz="half" idx="45" hasCustomPrompt="1"/>
          </p:nvPr>
        </p:nvSpPr>
        <p:spPr>
          <a:xfrm>
            <a:off x="397728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6EF9368-91D5-4441-B93F-09783401AF5C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397728" y="4003126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F620703C-EB94-423A-A6A7-15C06D712A5D}"/>
              </a:ext>
            </a:extLst>
          </p:cNvPr>
          <p:cNvSpPr>
            <a:spLocks noGrp="1"/>
          </p:cNvSpPr>
          <p:nvPr>
            <p:ph sz="half" idx="47" hasCustomPrompt="1"/>
          </p:nvPr>
        </p:nvSpPr>
        <p:spPr>
          <a:xfrm>
            <a:off x="4208618" y="2024063"/>
            <a:ext cx="753187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FCD21B2C-2AE5-4943-882A-2DA016D2D1E5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208618" y="1627471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0E30F5FE-B230-470A-B748-5461DCC6221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97728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F8325A8B-C2C0-4387-B5D1-078AB50B7325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397728" y="162747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3186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43128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A3B85F03-C5E0-4B8A-9D2F-DC06BCCB1019}"/>
              </a:ext>
            </a:extLst>
          </p:cNvPr>
          <p:cNvSpPr>
            <a:spLocks noGrp="1"/>
          </p:cNvSpPr>
          <p:nvPr>
            <p:ph sz="half" idx="45" hasCustomPrompt="1"/>
          </p:nvPr>
        </p:nvSpPr>
        <p:spPr>
          <a:xfrm>
            <a:off x="8018651" y="4400549"/>
            <a:ext cx="3721846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998954B-6896-4EF9-87DA-6227FC4DDDC0}"/>
              </a:ext>
            </a:extLst>
          </p:cNvPr>
          <p:cNvSpPr>
            <a:spLocks noGrp="1"/>
          </p:cNvSpPr>
          <p:nvPr>
            <p:ph type="body" idx="46" hasCustomPrompt="1"/>
          </p:nvPr>
        </p:nvSpPr>
        <p:spPr>
          <a:xfrm>
            <a:off x="8018651" y="400101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0C6BC5E7-EA23-48EF-9E8C-308BB821D9C1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07411" y="4400549"/>
            <a:ext cx="7531879" cy="194468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1F724201-757E-4FC4-BF08-BB2F5D5D17C0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07411" y="4001011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BDB2BECD-8AB9-489A-BF6B-18DF68B9003B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8FE39BF9-6EAA-4D70-9413-9DA2803EFB81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018651" y="1627473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4" name="Content Placeholder 3">
            <a:extLst>
              <a:ext uri="{FF2B5EF4-FFF2-40B4-BE49-F238E27FC236}">
                <a16:creationId xmlns:a16="http://schemas.microsoft.com/office/drawing/2014/main" id="{C3DD2393-3438-449F-AB3B-CF90969CC048}"/>
              </a:ext>
            </a:extLst>
          </p:cNvPr>
          <p:cNvSpPr>
            <a:spLocks noGrp="1"/>
          </p:cNvSpPr>
          <p:nvPr>
            <p:ph sz="half" idx="47" hasCustomPrompt="1"/>
          </p:nvPr>
        </p:nvSpPr>
        <p:spPr>
          <a:xfrm>
            <a:off x="407411" y="2024063"/>
            <a:ext cx="753187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4B9AF990-4A38-42A1-91E6-A8CA4D9F2FCF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07411" y="1627473"/>
            <a:ext cx="753187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50681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215043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382788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1628775"/>
            <a:ext cx="11342769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6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3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66804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orient="horz" pos="2387">
          <p15:clr>
            <a:srgbClr val="FBAE40"/>
          </p15:clr>
        </p15:guide>
        <p15:guide id="3" orient="horz" pos="2614">
          <p15:clr>
            <a:srgbClr val="FBAE40"/>
          </p15:clr>
        </p15:guide>
        <p15:guide id="4" orient="horz" pos="2659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408765"/>
            <a:ext cx="3721846" cy="19364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400364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3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3D89E54E-53CC-4E07-8A5E-9F7D7A2EED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5793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8818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2796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pos="234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4400550"/>
            <a:ext cx="11342769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4010338"/>
            <a:ext cx="11342769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15847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20946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2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2916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2024062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397728" y="1629161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8264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215043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381967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382788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223258"/>
            <a:ext cx="3721846" cy="21219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382788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9" y="1628775"/>
            <a:ext cx="5606832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7219A0-C1B8-3176-077A-18C833F7E9C8}"/>
              </a:ext>
            </a:extLst>
          </p:cNvPr>
          <p:cNvSpPr>
            <a:spLocks noGrp="1"/>
          </p:cNvSpPr>
          <p:nvPr>
            <p:ph sz="half" idx="52" hasCustomPrompt="1"/>
          </p:nvPr>
        </p:nvSpPr>
        <p:spPr>
          <a:xfrm>
            <a:off x="6124484" y="1628775"/>
            <a:ext cx="5606832" cy="21605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20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8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16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4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6786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49616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FBAE40"/>
          </p15:clr>
        </p15:guide>
        <p15:guide id="2" orient="horz" pos="2387">
          <p15:clr>
            <a:srgbClr val="FBAE40"/>
          </p15:clr>
        </p15:guide>
        <p15:guide id="3" orient="horz" pos="2614">
          <p15:clr>
            <a:srgbClr val="FBAE40"/>
          </p15:clr>
        </p15:guide>
        <p15:guide id="4" orient="horz" pos="2659">
          <p15:clr>
            <a:srgbClr val="FBAE40"/>
          </p15:clr>
        </p15:guide>
        <p15:guide id="5" orient="horz" pos="3997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24654A68-7F7C-447A-A99C-F3CF8C60DD97}"/>
              </a:ext>
            </a:extLst>
          </p:cNvPr>
          <p:cNvSpPr>
            <a:spLocks noGrp="1"/>
          </p:cNvSpPr>
          <p:nvPr>
            <p:ph sz="half" idx="50" hasCustomPrompt="1"/>
          </p:nvPr>
        </p:nvSpPr>
        <p:spPr>
          <a:xfrm>
            <a:off x="8018651" y="4392335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218DEE35-CB9B-4831-9219-432C3A1E138E}"/>
              </a:ext>
            </a:extLst>
          </p:cNvPr>
          <p:cNvSpPr>
            <a:spLocks noGrp="1"/>
          </p:cNvSpPr>
          <p:nvPr>
            <p:ph type="body" idx="51" hasCustomPrompt="1"/>
          </p:nvPr>
        </p:nvSpPr>
        <p:spPr>
          <a:xfrm>
            <a:off x="8018651" y="4003645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C5C5BFC7-1AD1-447F-BBBA-7AAAFEF85434}"/>
              </a:ext>
            </a:extLst>
          </p:cNvPr>
          <p:cNvSpPr>
            <a:spLocks noGrp="1"/>
          </p:cNvSpPr>
          <p:nvPr>
            <p:ph sz="half" idx="48" hasCustomPrompt="1"/>
          </p:nvPr>
        </p:nvSpPr>
        <p:spPr>
          <a:xfrm>
            <a:off x="4208190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CA6B9E7D-9976-4DD5-B01B-4DD30441376C}"/>
              </a:ext>
            </a:extLst>
          </p:cNvPr>
          <p:cNvSpPr>
            <a:spLocks noGrp="1"/>
          </p:cNvSpPr>
          <p:nvPr>
            <p:ph type="body" idx="49" hasCustomPrompt="1"/>
          </p:nvPr>
        </p:nvSpPr>
        <p:spPr>
          <a:xfrm>
            <a:off x="4208190" y="401186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52F0DE0-73D2-4D81-972D-70DD67DD3893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4400550"/>
            <a:ext cx="3721846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31A8A945-D371-4658-8A4B-C049D6EBBA62}"/>
              </a:ext>
            </a:extLst>
          </p:cNvPr>
          <p:cNvSpPr>
            <a:spLocks noGrp="1"/>
          </p:cNvSpPr>
          <p:nvPr>
            <p:ph type="body" idx="47" hasCustomPrompt="1"/>
          </p:nvPr>
        </p:nvSpPr>
        <p:spPr>
          <a:xfrm>
            <a:off x="397728" y="401186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5D4DD7DF-67F1-4D14-8501-2C4115251B3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8" y="2024063"/>
            <a:ext cx="5616991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3D89E54E-53CC-4E07-8A5E-9F7D7A2EEDA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8" y="1625794"/>
            <a:ext cx="5616991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8063F31F-F1FF-3779-154C-C8D08EB68E99}"/>
              </a:ext>
            </a:extLst>
          </p:cNvPr>
          <p:cNvSpPr>
            <a:spLocks noGrp="1"/>
          </p:cNvSpPr>
          <p:nvPr>
            <p:ph sz="half" idx="52" hasCustomPrompt="1"/>
          </p:nvPr>
        </p:nvSpPr>
        <p:spPr>
          <a:xfrm>
            <a:off x="6096000" y="2024063"/>
            <a:ext cx="5616991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2747DD-3FA6-8DAB-3DA5-21EEC2F86367}"/>
              </a:ext>
            </a:extLst>
          </p:cNvPr>
          <p:cNvSpPr>
            <a:spLocks noGrp="1"/>
          </p:cNvSpPr>
          <p:nvPr>
            <p:ph type="body" idx="53" hasCustomPrompt="1"/>
          </p:nvPr>
        </p:nvSpPr>
        <p:spPr>
          <a:xfrm>
            <a:off x="6096000" y="1625794"/>
            <a:ext cx="5616991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2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7624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3997">
          <p15:clr>
            <a:srgbClr val="FBAE40"/>
          </p15:clr>
        </p15:guide>
        <p15:guide id="6" orient="horz" pos="2772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07988" y="4400550"/>
            <a:ext cx="5606732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07988" y="4010342"/>
            <a:ext cx="5606732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3027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30278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407988" y="2024063"/>
            <a:ext cx="371158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407988" y="1630278"/>
            <a:ext cx="371158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C7B991D-9D36-0347-226D-8E4655C48B29}"/>
              </a:ext>
            </a:extLst>
          </p:cNvPr>
          <p:cNvSpPr>
            <a:spLocks noGrp="1"/>
          </p:cNvSpPr>
          <p:nvPr>
            <p:ph sz="half" idx="53" hasCustomPrompt="1"/>
          </p:nvPr>
        </p:nvSpPr>
        <p:spPr>
          <a:xfrm>
            <a:off x="6114324" y="4400550"/>
            <a:ext cx="5616992" cy="1944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0CBCF4A-E12E-7C78-0A84-11F7744BEACE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6114324" y="4010342"/>
            <a:ext cx="5616992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17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19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6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5770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8483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orient="horz" pos="754">
          <p15:clr>
            <a:srgbClr val="FBAE40"/>
          </p15:clr>
        </p15:guide>
        <p15:guide id="8" pos="23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Content Placeholder 3">
            <a:extLst>
              <a:ext uri="{FF2B5EF4-FFF2-40B4-BE49-F238E27FC236}">
                <a16:creationId xmlns:a16="http://schemas.microsoft.com/office/drawing/2014/main" id="{7584B3E9-63B2-4605-B250-6F7F2B9AD2C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97729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0DB580F4-BB1E-4CF8-BD4A-81E2DF0C63A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97729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49" name="Content Placeholder 3">
            <a:extLst>
              <a:ext uri="{FF2B5EF4-FFF2-40B4-BE49-F238E27FC236}">
                <a16:creationId xmlns:a16="http://schemas.microsoft.com/office/drawing/2014/main" id="{5588ADBF-C00D-4D3E-9935-EF1ABE434B18}"/>
              </a:ext>
            </a:extLst>
          </p:cNvPr>
          <p:cNvSpPr>
            <a:spLocks noGrp="1"/>
          </p:cNvSpPr>
          <p:nvPr>
            <p:ph sz="half" idx="51" hasCustomPrompt="1"/>
          </p:nvPr>
        </p:nvSpPr>
        <p:spPr>
          <a:xfrm>
            <a:off x="8018651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58E2FA5F-AB0B-4F36-A5AA-94138ABAC6BE}"/>
              </a:ext>
            </a:extLst>
          </p:cNvPr>
          <p:cNvSpPr>
            <a:spLocks noGrp="1"/>
          </p:cNvSpPr>
          <p:nvPr>
            <p:ph type="body" idx="52" hasCustomPrompt="1"/>
          </p:nvPr>
        </p:nvSpPr>
        <p:spPr>
          <a:xfrm>
            <a:off x="8018651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1" name="Content Placeholder 3">
            <a:extLst>
              <a:ext uri="{FF2B5EF4-FFF2-40B4-BE49-F238E27FC236}">
                <a16:creationId xmlns:a16="http://schemas.microsoft.com/office/drawing/2014/main" id="{3CA3EFA9-CACC-447E-AF8D-50AF0E0BDE4B}"/>
              </a:ext>
            </a:extLst>
          </p:cNvPr>
          <p:cNvSpPr>
            <a:spLocks noGrp="1"/>
          </p:cNvSpPr>
          <p:nvPr>
            <p:ph sz="half" idx="49" hasCustomPrompt="1"/>
          </p:nvPr>
        </p:nvSpPr>
        <p:spPr>
          <a:xfrm>
            <a:off x="4208190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31B971A6-AE13-40B7-8862-9955E8F371AE}"/>
              </a:ext>
            </a:extLst>
          </p:cNvPr>
          <p:cNvSpPr>
            <a:spLocks noGrp="1"/>
          </p:cNvSpPr>
          <p:nvPr>
            <p:ph type="body" idx="50" hasCustomPrompt="1"/>
          </p:nvPr>
        </p:nvSpPr>
        <p:spPr>
          <a:xfrm>
            <a:off x="4208190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3" name="Content Placeholder 3">
            <a:extLst>
              <a:ext uri="{FF2B5EF4-FFF2-40B4-BE49-F238E27FC236}">
                <a16:creationId xmlns:a16="http://schemas.microsoft.com/office/drawing/2014/main" id="{3EABBC5F-F0C7-4386-A5F0-2BEF303540A8}"/>
              </a:ext>
            </a:extLst>
          </p:cNvPr>
          <p:cNvSpPr>
            <a:spLocks noGrp="1"/>
          </p:cNvSpPr>
          <p:nvPr>
            <p:ph sz="half" idx="46" hasCustomPrompt="1"/>
          </p:nvPr>
        </p:nvSpPr>
        <p:spPr>
          <a:xfrm>
            <a:off x="397728" y="2024063"/>
            <a:ext cx="3721846" cy="19446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4D69A80A-5686-408A-9467-EDCB4D4EDD86}"/>
              </a:ext>
            </a:extLst>
          </p:cNvPr>
          <p:cNvSpPr>
            <a:spLocks noGrp="1"/>
          </p:cNvSpPr>
          <p:nvPr>
            <p:ph type="body" idx="48" hasCustomPrompt="1"/>
          </p:nvPr>
        </p:nvSpPr>
        <p:spPr>
          <a:xfrm>
            <a:off x="397728" y="163028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7" name="Content Placeholder 3">
            <a:extLst>
              <a:ext uri="{FF2B5EF4-FFF2-40B4-BE49-F238E27FC236}">
                <a16:creationId xmlns:a16="http://schemas.microsoft.com/office/drawing/2014/main" id="{5243BAB5-2683-FC27-0840-90042774B979}"/>
              </a:ext>
            </a:extLst>
          </p:cNvPr>
          <p:cNvSpPr>
            <a:spLocks noGrp="1"/>
          </p:cNvSpPr>
          <p:nvPr>
            <p:ph sz="half" idx="53" hasCustomPrompt="1"/>
          </p:nvPr>
        </p:nvSpPr>
        <p:spPr>
          <a:xfrm>
            <a:off x="4235077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699ACCF4-C618-5EE9-15B6-9671CECEAFEE}"/>
              </a:ext>
            </a:extLst>
          </p:cNvPr>
          <p:cNvSpPr>
            <a:spLocks noGrp="1"/>
          </p:cNvSpPr>
          <p:nvPr>
            <p:ph type="body" idx="54" hasCustomPrompt="1"/>
          </p:nvPr>
        </p:nvSpPr>
        <p:spPr>
          <a:xfrm>
            <a:off x="4235077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59" name="Content Placeholder 3">
            <a:extLst>
              <a:ext uri="{FF2B5EF4-FFF2-40B4-BE49-F238E27FC236}">
                <a16:creationId xmlns:a16="http://schemas.microsoft.com/office/drawing/2014/main" id="{6A54C7B4-B66F-E24F-6455-7202C8C5C0B7}"/>
              </a:ext>
            </a:extLst>
          </p:cNvPr>
          <p:cNvSpPr>
            <a:spLocks noGrp="1"/>
          </p:cNvSpPr>
          <p:nvPr>
            <p:ph sz="half" idx="55" hasCustomPrompt="1"/>
          </p:nvPr>
        </p:nvSpPr>
        <p:spPr>
          <a:xfrm>
            <a:off x="8018651" y="4389588"/>
            <a:ext cx="3721846" cy="19556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0" tIns="108000" rIns="46800" bIns="64800"/>
          <a:lstStyle>
            <a:lvl1pPr marL="285750" indent="-28575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90000"/>
              <a:buFont typeface="Wingdings" panose="05000000000000000000" pitchFamily="2" charset="2"/>
              <a:buChar char="n"/>
              <a:tabLst/>
              <a:defRPr lang="en-US" sz="16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26400" indent="-288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ct val="70000"/>
              <a:buFont typeface="Wingdings" pitchFamily="2" charset="2"/>
              <a:buChar char="n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64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Arial" pitchFamily="34" charset="0"/>
              <a:buChar char="–"/>
              <a:defRPr lang="en-US" sz="14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8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US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32000" indent="-216000" algn="l" defTabSz="815780" rtl="0" fontAlgn="base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2"/>
              </a:buClr>
              <a:buSzPts val="1200"/>
              <a:buFont typeface="Symbol"/>
              <a:buChar char="-"/>
              <a:defRPr lang="en-GB" sz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add text</a:t>
            </a:r>
          </a:p>
          <a:p>
            <a:pPr lvl="1"/>
            <a:r>
              <a:rPr lang="en-GB"/>
              <a:t>Level 1</a:t>
            </a:r>
          </a:p>
          <a:p>
            <a:pPr lvl="2"/>
            <a:r>
              <a:rPr lang="en-GB"/>
              <a:t>Level 2</a:t>
            </a:r>
          </a:p>
          <a:p>
            <a:pPr lvl="3"/>
            <a:r>
              <a:rPr lang="en-GB"/>
              <a:t>Level 3</a:t>
            </a:r>
          </a:p>
          <a:p>
            <a:pPr lvl="4"/>
            <a:r>
              <a:rPr lang="en-GB"/>
              <a:t>Level 4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0B09CA03-8042-D719-0152-371B18C662FD}"/>
              </a:ext>
            </a:extLst>
          </p:cNvPr>
          <p:cNvSpPr>
            <a:spLocks noGrp="1"/>
          </p:cNvSpPr>
          <p:nvPr>
            <p:ph type="body" idx="56" hasCustomPrompt="1"/>
          </p:nvPr>
        </p:nvSpPr>
        <p:spPr>
          <a:xfrm>
            <a:off x="8018651" y="4010340"/>
            <a:ext cx="3721846" cy="324000"/>
          </a:xfrm>
          <a:prstGeom prst="callout1">
            <a:avLst>
              <a:gd name="adj1" fmla="val 100536"/>
              <a:gd name="adj2" fmla="val 99996"/>
              <a:gd name="adj3" fmla="val 100706"/>
              <a:gd name="adj4" fmla="val 0"/>
            </a:avLst>
          </a:prstGeom>
          <a:noFill/>
          <a:ln w="19050">
            <a:solidFill>
              <a:srgbClr val="00377B"/>
            </a:solidFill>
            <a:headEnd/>
            <a:tailEnd/>
          </a:ln>
        </p:spPr>
        <p:txBody>
          <a:bodyPr lIns="0" tIns="0" rIns="0" bIns="36000" anchor="b" anchorCtr="0"/>
          <a:lstStyle>
            <a:lvl1pPr marL="0" indent="0" algn="l" defTabSz="815780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  <a:defRPr lang="en-US" sz="1600" b="1" kern="1200" baseline="0" dirty="0" smtClean="0">
                <a:ln>
                  <a:noFill/>
                </a:ln>
                <a:solidFill>
                  <a:srgbClr val="00377B"/>
                </a:solidFill>
                <a:latin typeface="+mn-lt"/>
                <a:ea typeface="+mn-ea"/>
                <a:cs typeface="+mn-cs"/>
              </a:defRPr>
            </a:lvl1pPr>
            <a:lvl2pPr marL="389626" indent="0">
              <a:buNone/>
              <a:defRPr sz="1700" b="1"/>
            </a:lvl2pPr>
            <a:lvl3pPr marL="779252" indent="0">
              <a:buNone/>
              <a:defRPr sz="1500" b="1"/>
            </a:lvl3pPr>
            <a:lvl4pPr marL="1168878" indent="0">
              <a:buNone/>
              <a:defRPr sz="1400" b="1"/>
            </a:lvl4pPr>
            <a:lvl5pPr marL="1558503" indent="0">
              <a:buNone/>
              <a:defRPr sz="1400" b="1"/>
            </a:lvl5pPr>
            <a:lvl6pPr marL="1948129" indent="0">
              <a:buNone/>
              <a:defRPr sz="1400" b="1"/>
            </a:lvl6pPr>
            <a:lvl7pPr marL="2337755" indent="0">
              <a:buNone/>
              <a:defRPr sz="1400" b="1"/>
            </a:lvl7pPr>
            <a:lvl8pPr marL="2727381" indent="0">
              <a:buNone/>
              <a:defRPr sz="1400" b="1"/>
            </a:lvl8pPr>
            <a:lvl9pPr marL="3117007" indent="0">
              <a:buNone/>
              <a:defRPr sz="1400" b="1"/>
            </a:lvl9pPr>
          </a:lstStyle>
          <a:p>
            <a:pPr marL="0" lvl="0" indent="0" algn="l" defTabSz="815780" rtl="0" eaLnBrk="0" fontAlgn="base" hangingPunct="0">
              <a:spcBef>
                <a:spcPct val="0"/>
              </a:spcBef>
              <a:spcAft>
                <a:spcPct val="0"/>
              </a:spcAft>
              <a:buClr>
                <a:srgbClr val="CC3300"/>
              </a:buClr>
              <a:buNone/>
            </a:pPr>
            <a:r>
              <a:rPr lang="en-US"/>
              <a:t>Title bar</a:t>
            </a:r>
          </a:p>
        </p:txBody>
      </p:sp>
      <p:sp>
        <p:nvSpPr>
          <p:cNvPr id="61" name="Slide Header Placeholder">
            <a:extLst>
              <a:ext uri="{FF2B5EF4-FFF2-40B4-BE49-F238E27FC236}">
                <a16:creationId xmlns:a16="http://schemas.microsoft.com/office/drawing/2014/main" id="{04C7DB3A-31B9-2241-236E-678C60A948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7988" y="195941"/>
            <a:ext cx="11333758" cy="899785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 defTabSz="957263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lang="en-GB" sz="2800" b="1" baseline="0" dirty="0">
                <a:solidFill>
                  <a:schemeClr val="tx1"/>
                </a:solidFill>
                <a:latin typeface="+mn-lt"/>
                <a:ea typeface="+mn-ea"/>
                <a:cs typeface="Arial Unicode MS" pitchFamily="34" charset="-128"/>
              </a:defRPr>
            </a:lvl1pPr>
          </a:lstStyle>
          <a:p>
            <a:r>
              <a:rPr lang="en-GB"/>
              <a:t>Main text</a:t>
            </a:r>
            <a:br>
              <a:rPr lang="en-GB"/>
            </a:br>
            <a:r>
              <a:rPr lang="en-GB"/>
              <a:t>Subtitle（</a:t>
            </a:r>
            <a:r>
              <a:rPr lang="zh-TW" altLang="en-US"/>
              <a:t>可自由增加）</a:t>
            </a:r>
            <a:endParaRPr lang="en-GB"/>
          </a:p>
        </p:txBody>
      </p:sp>
      <p:sp>
        <p:nvSpPr>
          <p:cNvPr id="62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407988" y="1204392"/>
            <a:ext cx="11323328" cy="370640"/>
          </a:xfrm>
          <a:prstGeom prst="rect">
            <a:avLst/>
          </a:prstGeom>
        </p:spPr>
        <p:txBody>
          <a:bodyPr lIns="0" tIns="0" rIns="0" bIns="0" anchor="ctr"/>
          <a:lstStyle>
            <a:lvl1pPr marL="266700" indent="-2667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90000"/>
              <a:buFont typeface="Wingdings" panose="05000000000000000000" pitchFamily="2" charset="2"/>
              <a:buChar char="n"/>
              <a:defRPr sz="2000" b="1" baseline="0">
                <a:latin typeface="+mn-lt"/>
                <a:ea typeface="+mn-ea"/>
              </a:defRPr>
            </a:lvl1pPr>
            <a:lvl2pPr marL="447675" indent="-271463">
              <a:buClr>
                <a:schemeClr val="accent3"/>
              </a:buClr>
              <a:buSzPct val="70000"/>
              <a:defRPr sz="2000" b="1"/>
            </a:lvl2pPr>
          </a:lstStyle>
          <a:p>
            <a:pPr lvl="0"/>
            <a:r>
              <a:rPr lang="en-US"/>
              <a:t>Subheading text (optional)</a:t>
            </a:r>
          </a:p>
        </p:txBody>
      </p:sp>
      <p:sp>
        <p:nvSpPr>
          <p:cNvPr id="18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8" y="6437589"/>
            <a:ext cx="9278022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40627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30">
          <p15:clr>
            <a:srgbClr val="FBAE40"/>
          </p15:clr>
        </p15:guide>
        <p15:guide id="2" orient="horz" pos="1275">
          <p15:clr>
            <a:srgbClr val="FBAE40"/>
          </p15:clr>
        </p15:guide>
        <p15:guide id="3" orient="horz" pos="2500">
          <p15:clr>
            <a:srgbClr val="FBAE40"/>
          </p15:clr>
        </p15:guide>
        <p15:guide id="4" orient="horz" pos="2727">
          <p15:clr>
            <a:srgbClr val="FBAE40"/>
          </p15:clr>
        </p15:guide>
        <p15:guide id="5" orient="horz" pos="2772">
          <p15:clr>
            <a:srgbClr val="FBAE40"/>
          </p15:clr>
        </p15:guide>
        <p15:guide id="6" orient="horz" pos="3997">
          <p15:clr>
            <a:srgbClr val="FBAE40"/>
          </p15:clr>
        </p15:guide>
        <p15:guide id="7" pos="234">
          <p15:clr>
            <a:srgbClr val="FBAE40"/>
          </p15:clr>
        </p15:guide>
        <p15:guide id="8" orient="horz" pos="754">
          <p15:clr>
            <a:srgbClr val="FBAE40"/>
          </p15:clr>
        </p15:guide>
        <p15:guide id="9" orient="horz" pos="119">
          <p15:clr>
            <a:srgbClr val="FBAE40"/>
          </p15:clr>
        </p15:guide>
        <p15:guide id="10" orient="horz" pos="98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內頁（表格呈現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一張含有 螢幕擷取畫面, 圖形, 設計 的圖片&#10;&#10;自動產生的描述">
            <a:extLst>
              <a:ext uri="{FF2B5EF4-FFF2-40B4-BE49-F238E27FC236}">
                <a16:creationId xmlns:a16="http://schemas.microsoft.com/office/drawing/2014/main" id="{BBB0416C-20C5-2BC3-D506-25839A94B71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F378ABA5-16C5-B9E7-1DBA-33FE2EB9D165}"/>
              </a:ext>
            </a:extLst>
          </p:cNvPr>
          <p:cNvCxnSpPr>
            <a:cxnSpLocks/>
          </p:cNvCxnSpPr>
          <p:nvPr userDrawn="1"/>
        </p:nvCxnSpPr>
        <p:spPr>
          <a:xfrm>
            <a:off x="943629" y="1155639"/>
            <a:ext cx="10329796" cy="0"/>
          </a:xfrm>
          <a:prstGeom prst="line">
            <a:avLst/>
          </a:prstGeom>
          <a:ln w="12700">
            <a:solidFill>
              <a:srgbClr val="1036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版面配置區 12">
            <a:extLst>
              <a:ext uri="{FF2B5EF4-FFF2-40B4-BE49-F238E27FC236}">
                <a16:creationId xmlns:a16="http://schemas.microsoft.com/office/drawing/2014/main" id="{F01B6E24-C437-F387-95DC-E07A5E382B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3388" y="620783"/>
            <a:ext cx="2211219" cy="565149"/>
          </a:xfrm>
          <a:prstGeom prst="rect">
            <a:avLst/>
          </a:prstGeom>
        </p:spPr>
        <p:txBody>
          <a:bodyPr/>
          <a:lstStyle>
            <a:lvl1pPr marL="239994" indent="0" algn="ctr">
              <a:spcBef>
                <a:spcPts val="0"/>
              </a:spcBef>
              <a:buNone/>
              <a:defRPr sz="2933" spc="400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pPr lvl="0"/>
            <a:r>
              <a:rPr lang="zh-CN" altLang="en-US"/>
              <a:t>凱基證券</a:t>
            </a:r>
            <a:endParaRPr lang="zh-TW" altLang="en-US"/>
          </a:p>
        </p:txBody>
      </p:sp>
      <p:sp>
        <p:nvSpPr>
          <p:cNvPr id="9" name="文字版面配置區 14">
            <a:extLst>
              <a:ext uri="{FF2B5EF4-FFF2-40B4-BE49-F238E27FC236}">
                <a16:creationId xmlns:a16="http://schemas.microsoft.com/office/drawing/2014/main" id="{A467421B-394A-5B62-8748-12C3194D3C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641889" y="702140"/>
            <a:ext cx="1719969" cy="3619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133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pPr lvl="0"/>
            <a:r>
              <a:rPr lang="zh-CN" altLang="en-US"/>
              <a:t>企業報告書</a:t>
            </a:r>
            <a:endParaRPr lang="zh-TW" altLang="en-US"/>
          </a:p>
        </p:txBody>
      </p:sp>
      <p:sp>
        <p:nvSpPr>
          <p:cNvPr id="10" name="文字版面配置區 25">
            <a:extLst>
              <a:ext uri="{FF2B5EF4-FFF2-40B4-BE49-F238E27FC236}">
                <a16:creationId xmlns:a16="http://schemas.microsoft.com/office/drawing/2014/main" id="{41A0129D-9FCA-BD2C-A617-02FD7522DD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333" y="1583138"/>
            <a:ext cx="2477745" cy="3661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 b="0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pPr lvl="0"/>
            <a:r>
              <a:rPr lang="zh-CN" altLang="en-US"/>
              <a:t>副標位置</a:t>
            </a:r>
            <a:endParaRPr lang="zh-TW" altLang="en-US"/>
          </a:p>
        </p:txBody>
      </p:sp>
      <p:sp>
        <p:nvSpPr>
          <p:cNvPr id="12" name="表格版面配置區 11">
            <a:extLst>
              <a:ext uri="{FF2B5EF4-FFF2-40B4-BE49-F238E27FC236}">
                <a16:creationId xmlns:a16="http://schemas.microsoft.com/office/drawing/2014/main" id="{952C1691-32B0-65FA-1FD5-E61F4C482058}"/>
              </a:ext>
            </a:extLst>
          </p:cNvPr>
          <p:cNvSpPr>
            <a:spLocks noGrp="1"/>
          </p:cNvSpPr>
          <p:nvPr>
            <p:ph type="tbl" sz="quarter" idx="17" hasCustomPrompt="1"/>
          </p:nvPr>
        </p:nvSpPr>
        <p:spPr>
          <a:xfrm>
            <a:off x="944034" y="2087034"/>
            <a:ext cx="10329333" cy="37465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200">
                <a:solidFill>
                  <a:srgbClr val="103671"/>
                </a:solidFill>
                <a:latin typeface="思源黑體" panose="020B0500000000000000" pitchFamily="34" charset="-120"/>
                <a:ea typeface="思源黑體" panose="020B0500000000000000" pitchFamily="34" charset="-120"/>
              </a:defRPr>
            </a:lvl1pPr>
          </a:lstStyle>
          <a:p>
            <a:r>
              <a:rPr lang="zh-CN" altLang="en-US"/>
              <a:t>表格放置區</a:t>
            </a:r>
            <a:endParaRPr lang="zh-TW" altLang="en-US"/>
          </a:p>
        </p:txBody>
      </p:sp>
      <p:sp>
        <p:nvSpPr>
          <p:cNvPr id="16" name="投影片編號版面配置區 12">
            <a:extLst>
              <a:ext uri="{FF2B5EF4-FFF2-40B4-BE49-F238E27FC236}">
                <a16:creationId xmlns:a16="http://schemas.microsoft.com/office/drawing/2014/main" id="{A36CAEC1-3BB6-5C33-034B-B6E5A63E74A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9343712" y="5622681"/>
            <a:ext cx="2743200" cy="366183"/>
          </a:xfrm>
        </p:spPr>
        <p:txBody>
          <a:bodyPr/>
          <a:lstStyle>
            <a:lvl1pPr>
              <a:defRPr sz="1067">
                <a:solidFill>
                  <a:srgbClr val="71717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altLang="zh-TW"/>
              <a:t>P.</a:t>
            </a:r>
            <a:fld id="{FE390D7C-F731-44A5-8E06-FD5F9951EF41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923048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版型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版面配置區 7"/>
          <p:cNvSpPr>
            <a:spLocks noGrp="1"/>
          </p:cNvSpPr>
          <p:nvPr>
            <p:ph type="body" sz="quarter" idx="15" hasCustomPrompt="1"/>
          </p:nvPr>
        </p:nvSpPr>
        <p:spPr>
          <a:xfrm>
            <a:off x="334965" y="6172494"/>
            <a:ext cx="10725641" cy="202511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FontTx/>
              <a:buNone/>
              <a:defRPr sz="731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zh-TW" altLang="en-US"/>
              <a:t>註解樣式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Size9)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FE077545-8B50-2994-D2D5-F8BDBBD57E6E}"/>
              </a:ext>
            </a:extLst>
          </p:cNvPr>
          <p:cNvCxnSpPr>
            <a:cxnSpLocks/>
          </p:cNvCxnSpPr>
          <p:nvPr userDrawn="1"/>
        </p:nvCxnSpPr>
        <p:spPr>
          <a:xfrm>
            <a:off x="334965" y="1162092"/>
            <a:ext cx="11522075" cy="0"/>
          </a:xfrm>
          <a:prstGeom prst="line">
            <a:avLst/>
          </a:prstGeom>
          <a:ln w="12700">
            <a:solidFill>
              <a:srgbClr val="1036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80DF450-408D-554F-CB1F-87721C09A38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2547" y="67862"/>
            <a:ext cx="5504492" cy="226295"/>
          </a:xfrm>
          <a:prstGeom prst="rect">
            <a:avLst/>
          </a:prstGeom>
        </p:spPr>
        <p:txBody>
          <a:bodyPr lIns="0" tIns="0" rIns="0" bIns="0" anchor="ctr"/>
          <a:lstStyle>
            <a:lvl1pPr algn="r">
              <a:lnSpc>
                <a:spcPts val="1139"/>
              </a:lnSpc>
              <a:spcBef>
                <a:spcPts val="0"/>
              </a:spcBef>
              <a:defRPr sz="813" baseline="0">
                <a:solidFill>
                  <a:schemeClr val="bg2"/>
                </a:solidFill>
                <a:latin typeface="+mn-lt"/>
              </a:defRPr>
            </a:lvl1pPr>
            <a:lvl2pPr marL="197152" indent="0">
              <a:buNone/>
              <a:defRPr/>
            </a:lvl2pPr>
          </a:lstStyle>
          <a:p>
            <a:pPr lvl="0"/>
            <a:r>
              <a:rPr lang="zh-TW" altLang="en-US"/>
              <a:t>章節標題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Size10)</a:t>
            </a:r>
            <a:endParaRPr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1341438"/>
            <a:ext cx="11522076" cy="4716463"/>
          </a:xfrm>
          <a:prstGeom prst="rect">
            <a:avLst/>
          </a:prstGeom>
        </p:spPr>
        <p:txBody>
          <a:bodyPr lIns="0" tIns="0" rIns="0" bIns="0"/>
          <a:lstStyle>
            <a:lvl1pPr marL="380990" indent="-380990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1pPr>
            <a:lvl2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2pPr>
            <a:lvl3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3pPr>
            <a:lvl4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4pPr>
            <a:lvl5pPr marL="219268" indent="-219268">
              <a:lnSpc>
                <a:spcPts val="1788"/>
              </a:lnSpc>
              <a:spcBef>
                <a:spcPts val="0"/>
              </a:spcBef>
              <a:buClr>
                <a:schemeClr val="accent1"/>
              </a:buClr>
              <a:buFont typeface="Wingdings" panose="05000000000000000000" pitchFamily="2" charset="2"/>
              <a:buChar char="n"/>
              <a:defRPr sz="1139" baseline="0">
                <a:solidFill>
                  <a:schemeClr val="bg2"/>
                </a:solidFill>
                <a:latin typeface="+mn-lt"/>
              </a:defRPr>
            </a:lvl5pPr>
          </a:lstStyle>
          <a:p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內文標題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(</a:t>
            </a:r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微軟正黑體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Bold/ Arial Bold/ Size16/ </a:t>
            </a:r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行距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- </a:t>
            </a:r>
            <a:r>
              <a:rPr lang="zh-TW" altLang="en-US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固定行高</a:t>
            </a:r>
            <a:r>
              <a:rPr lang="en-US" altLang="zh-TW" sz="1300" b="1">
                <a:solidFill>
                  <a:schemeClr val="accent1"/>
                </a:solidFill>
                <a:ea typeface="微軟正黑體" panose="020B0604030504040204" pitchFamily="34" charset="-120"/>
              </a:rPr>
              <a:t>22pt)</a:t>
            </a:r>
            <a:endParaRPr lang="zh-TW" altLang="en-US" sz="1300" b="1">
              <a:solidFill>
                <a:schemeClr val="accent1"/>
              </a:solidFill>
              <a:ea typeface="微軟正黑體" panose="020B0604030504040204" pitchFamily="34" charset="-120"/>
            </a:endParaRPr>
          </a:p>
          <a:p>
            <a:r>
              <a:rPr lang="zh-TW" altLang="en-US"/>
              <a:t>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  <a:p>
            <a:r>
              <a:rPr lang="zh-TW" altLang="en-US"/>
              <a:t>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n"/>
            </a:pPr>
            <a:r>
              <a:rPr lang="zh-TW" altLang="en-US"/>
              <a:t>列點內文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n"/>
            </a:pPr>
            <a:r>
              <a:rPr lang="zh-TW" altLang="en-US"/>
              <a:t>列點內文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/ Arial/ Size14/ </a:t>
            </a:r>
            <a:r>
              <a:rPr lang="zh-TW" altLang="en-US"/>
              <a:t>行距</a:t>
            </a:r>
            <a:r>
              <a:rPr lang="en-US" altLang="zh-TW"/>
              <a:t>-</a:t>
            </a:r>
            <a:r>
              <a:rPr lang="zh-TW" altLang="en-US"/>
              <a:t> 固定行高</a:t>
            </a:r>
            <a:r>
              <a:rPr lang="en-US" altLang="zh-TW"/>
              <a:t>22pt)</a:t>
            </a:r>
          </a:p>
        </p:txBody>
      </p:sp>
      <p:sp>
        <p:nvSpPr>
          <p:cNvPr id="10" name="文字版面配置區 9"/>
          <p:cNvSpPr>
            <a:spLocks noGrp="1"/>
          </p:cNvSpPr>
          <p:nvPr>
            <p:ph type="body" sz="quarter" idx="18" hasCustomPrompt="1"/>
          </p:nvPr>
        </p:nvSpPr>
        <p:spPr>
          <a:xfrm>
            <a:off x="334801" y="360003"/>
            <a:ext cx="11522239" cy="3330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2439"/>
              </a:lnSpc>
              <a:spcBef>
                <a:spcPts val="0"/>
              </a:spcBef>
              <a:defRPr sz="2275" b="1" baseline="0">
                <a:solidFill>
                  <a:schemeClr val="bg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/>
              <a:t>標題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BOLD/ Arial/ Size28)</a:t>
            </a:r>
          </a:p>
          <a:p>
            <a:pPr lvl="0"/>
            <a:endParaRPr lang="zh-TW" altLang="en-US"/>
          </a:p>
        </p:txBody>
      </p:sp>
      <p:sp>
        <p:nvSpPr>
          <p:cNvPr id="13" name="文字版面配置區 12"/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788403"/>
            <a:ext cx="11522076" cy="28962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951"/>
              </a:lnSpc>
              <a:spcBef>
                <a:spcPts val="0"/>
              </a:spcBef>
              <a:defRPr sz="1463" b="1" baseline="0">
                <a:solidFill>
                  <a:schemeClr val="bg2"/>
                </a:solidFill>
                <a:latin typeface="+mj-lt"/>
                <a:ea typeface="+mj-ea"/>
              </a:defRPr>
            </a:lvl1pPr>
          </a:lstStyle>
          <a:p>
            <a:pPr lvl="0"/>
            <a:r>
              <a:rPr lang="zh-TW" altLang="en-US"/>
              <a:t>副標</a:t>
            </a:r>
            <a:r>
              <a:rPr lang="en-US" altLang="zh-TW"/>
              <a:t>(</a:t>
            </a:r>
            <a:r>
              <a:rPr lang="zh-TW" altLang="en-US"/>
              <a:t>微軟正黑體</a:t>
            </a:r>
            <a:r>
              <a:rPr lang="en-US" altLang="zh-TW"/>
              <a:t>Bold/ Arial Bold/ Size18)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63915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theme" Target="../theme/theme1.xml"/><Relationship Id="rId44" Type="http://schemas.openxmlformats.org/officeDocument/2006/relationships/image" Target="../media/image1.jpeg"/><Relationship Id="rId45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4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47">
            <a:extLst>
              <a:ext uri="{FF2B5EF4-FFF2-40B4-BE49-F238E27FC236}">
                <a16:creationId xmlns:a16="http://schemas.microsoft.com/office/drawing/2014/main" id="{D010357D-4661-5BCD-578C-B51C051AA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53198" y="6377755"/>
            <a:ext cx="239288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  <a:p>
            <a:pPr eaLnBrk="1" hangingPunct="1">
              <a:defRPr/>
            </a:pPr>
            <a:r>
              <a:rPr lang="zh-TW" altLang="en-US" sz="1100" b="1" baseline="0">
                <a:solidFill>
                  <a:srgbClr val="00377B"/>
                </a:solidFill>
                <a:latin typeface="+mn-lt"/>
                <a:ea typeface="+mn-ea"/>
              </a:rPr>
              <a:t>請勿遮蔽品牌標誌</a:t>
            </a:r>
            <a:endParaRPr lang="en-GB" altLang="zh-TW" sz="1100" b="1" baseline="0">
              <a:solidFill>
                <a:srgbClr val="00377B"/>
              </a:solidFill>
              <a:latin typeface="+mn-lt"/>
              <a:ea typeface="+mn-ea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61ED8FB1-F04A-E202-F3FB-6344E36C172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739" y="789321"/>
            <a:ext cx="11431385" cy="0"/>
          </a:xfrm>
          <a:prstGeom prst="line">
            <a:avLst/>
          </a:prstGeom>
          <a:noFill/>
          <a:ln w="12700">
            <a:solidFill>
              <a:srgbClr val="00368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800"/>
          </a:p>
        </p:txBody>
      </p:sp>
      <p:sp>
        <p:nvSpPr>
          <p:cNvPr id="10" name="Rectangle 16">
            <a:extLst>
              <a:ext uri="{FF2B5EF4-FFF2-40B4-BE49-F238E27FC236}">
                <a16:creationId xmlns:a16="http://schemas.microsoft.com/office/drawing/2014/main" id="{1BE3D5AD-E6C4-1426-1947-D7C5C1D61C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1846" y="5997333"/>
            <a:ext cx="510154" cy="233670"/>
          </a:xfrm>
          <a:prstGeom prst="rect">
            <a:avLst/>
          </a:prstGeom>
          <a:solidFill>
            <a:srgbClr val="D9F1FF"/>
          </a:solidFill>
          <a:ln>
            <a:noFill/>
          </a:ln>
        </p:spPr>
        <p:txBody>
          <a:bodyPr lIns="54000" tIns="0" rIns="0" bIns="0" wrap="none"/>
          <a:lstStyle>
            <a:lvl1pPr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1pPr>
            <a:lvl2pPr marL="742950" indent="-28575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2pPr>
            <a:lvl3pPr marL="11430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3pPr>
            <a:lvl4pPr marL="16002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4pPr>
            <a:lvl5pPr marL="2057400" indent="-228600" eaLnBrk="0" hangingPunct="0"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5pPr>
            <a:lvl6pPr marL="25146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6pPr>
            <a:lvl7pPr marL="29718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7pPr>
            <a:lvl8pPr marL="34290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8pPr>
            <a:lvl9pPr marL="3886200" indent="-228600" algn="just" eaLnBrk="0" fontAlgn="base" hangingPunct="0">
              <a:lnSpc>
                <a:spcPct val="110000"/>
              </a:lnSpc>
              <a:spcBef>
                <a:spcPct val="50000"/>
              </a:spcBef>
              <a:spcAft>
                <a:spcPct val="0"/>
              </a:spcAft>
              <a:buClr>
                <a:srgbClr val="D56C2A"/>
              </a:buClr>
              <a:buSzPct val="90000"/>
              <a:defRPr kumimoji="1" sz="1600">
                <a:solidFill>
                  <a:srgbClr val="737373"/>
                </a:solidFill>
                <a:latin typeface="Frutiger 47LightCn"/>
                <a:ea typeface="文鼎新細黑" pitchFamily="49" charset="-120"/>
              </a:defRPr>
            </a:lvl9pPr>
          </a:lstStyle>
          <a:p>
            <a:pPr algn="just" eaLnBrk="1" hangingPunct="1">
              <a:defRPr/>
            </a:pPr>
            <a:fld id="{3A06688C-8A71-4C26-9DF0-BC8547FBA8DD}" type="slidenum">
              <a:rPr lang="en-US" altLang="zh-TW" sz="1600" baseline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Arial" panose="020B0604020202020204" pitchFamily="34" charset="0"/>
              </a:rPr>
              <a:pPr algn="just" eaLnBrk="1" hangingPunct="1">
                <a:defRPr/>
              </a:pPr>
              <a:t>‹#›</a:t>
            </a:fld>
            <a:endParaRPr lang="en-US" altLang="zh-TW" sz="1600" baseline="0">
              <a:solidFill>
                <a:schemeClr val="tx1">
                  <a:lumMod val="75000"/>
                  <a:lumOff val="25000"/>
                </a:schemeClr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9A7D5925-9BBE-FE6F-FD7D-CB86CCD53C1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63739" y="6415350"/>
            <a:ext cx="11431383" cy="0"/>
          </a:xfrm>
          <a:prstGeom prst="line">
            <a:avLst/>
          </a:prstGeom>
          <a:noFill/>
          <a:ln w="12700">
            <a:solidFill>
              <a:srgbClr val="00368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TW" altLang="en-US" sz="1800"/>
          </a:p>
        </p:txBody>
      </p:sp>
      <p:sp>
        <p:nvSpPr>
          <p:cNvPr id="4" name="Rectangle 47">
            <a:extLst>
              <a:ext uri="{FF2B5EF4-FFF2-40B4-BE49-F238E27FC236}">
                <a16:creationId xmlns:a16="http://schemas.microsoft.com/office/drawing/2014/main" id="{D6D4E521-F499-AF68-FF7D-3A638C99BBF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8621191" y="7872817"/>
            <a:ext cx="2392881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  <a:p>
            <a:pPr eaLnBrk="1" hangingPunct="1">
              <a:defRPr/>
            </a:pPr>
            <a:r>
              <a:rPr lang="zh-TW" altLang="en-US" sz="1100" b="1" baseline="0">
                <a:solidFill>
                  <a:srgbClr val="00377B"/>
                </a:solidFill>
                <a:latin typeface="+mn-lt"/>
                <a:ea typeface="+mn-ea"/>
              </a:rPr>
              <a:t>請勿遮蔽品牌標誌</a:t>
            </a:r>
            <a:endParaRPr lang="en-GB" altLang="zh-TW" sz="1100" b="1" baseline="0">
              <a:solidFill>
                <a:srgbClr val="00377B"/>
              </a:solidFill>
              <a:latin typeface="+mn-lt"/>
              <a:ea typeface="+mn-ea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zh-TW" sz="1100" b="1" baseline="0">
                <a:solidFill>
                  <a:srgbClr val="00377B"/>
                </a:solidFill>
                <a:latin typeface="+mn-lt"/>
                <a:ea typeface="+mn-ea"/>
              </a:rPr>
              <a:t>←</a:t>
            </a:r>
          </a:p>
        </p:txBody>
      </p:sp>
      <p:sp>
        <p:nvSpPr>
          <p:cNvPr id="13" name="頁尾版面配置區 2">
            <a:extLst>
              <a:ext uri="{FF2B5EF4-FFF2-40B4-BE49-F238E27FC236}">
                <a16:creationId xmlns:a16="http://schemas.microsoft.com/office/drawing/2014/main" id="{D860F382-0A64-0ADD-DBCD-581BDE952D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339" y="6437589"/>
            <a:ext cx="9230378" cy="331777"/>
          </a:xfrm>
          <a:prstGeom prst="rect">
            <a:avLst/>
          </a:prstGeom>
        </p:spPr>
        <p:txBody>
          <a:bodyPr vert="horz" lIns="91440" tIns="18000" rIns="91440" bIns="1800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zh-TW" altLang="en-US" kern="0">
                <a:solidFill>
                  <a:prstClr val="black"/>
                </a:solidFill>
              </a:rPr>
              <a:t>資料來源：；資料日期：。 </a:t>
            </a:r>
            <a:endParaRPr lang="zh-TW" altLang="en-US" b="1" kern="0">
              <a:solidFill>
                <a:srgbClr val="D95729">
                  <a:lumMod val="75000"/>
                </a:srgbClr>
              </a:solidFill>
            </a:endParaRPr>
          </a:p>
        </p:txBody>
      </p:sp>
      <p:pic>
        <p:nvPicPr>
          <p:cNvPr id="2" name="圖片 1" descr="一張含有 螢幕擷取畫面, 圖形, 字型, 文字 的圖片&#10;&#10;AI 產生的內容可能不正確。">
            <a:extLst>
              <a:ext uri="{FF2B5EF4-FFF2-40B4-BE49-F238E27FC236}">
                <a16:creationId xmlns:a16="http://schemas.microsoft.com/office/drawing/2014/main" id="{A142C6C8-979F-2A51-F159-6CC12369D203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9609642" y="6343628"/>
            <a:ext cx="2431111" cy="560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924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50" r:id="rId2"/>
    <p:sldLayoutId id="2147483703" r:id="rId3"/>
    <p:sldLayoutId id="2147483660" r:id="rId4"/>
    <p:sldLayoutId id="2147483696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  <p:sldLayoutId id="2147483714" r:id="rId16"/>
    <p:sldLayoutId id="2147483715" r:id="rId17"/>
    <p:sldLayoutId id="2147483716" r:id="rId18"/>
    <p:sldLayoutId id="2147483717" r:id="rId19"/>
    <p:sldLayoutId id="2147483718" r:id="rId20"/>
    <p:sldLayoutId id="2147483719" r:id="rId21"/>
    <p:sldLayoutId id="2147483720" r:id="rId22"/>
    <p:sldLayoutId id="2147483721" r:id="rId23"/>
    <p:sldLayoutId id="2147483722" r:id="rId24"/>
    <p:sldLayoutId id="2147483723" r:id="rId25"/>
    <p:sldLayoutId id="2147483724" r:id="rId26"/>
    <p:sldLayoutId id="2147483725" r:id="rId27"/>
    <p:sldLayoutId id="2147483726" r:id="rId28"/>
    <p:sldLayoutId id="2147483727" r:id="rId29"/>
    <p:sldLayoutId id="2147483728" r:id="rId30"/>
    <p:sldLayoutId id="2147483729" r:id="rId31"/>
    <p:sldLayoutId id="2147483730" r:id="rId32"/>
    <p:sldLayoutId id="2147483731" r:id="rId33"/>
    <p:sldLayoutId id="2147483732" r:id="rId34"/>
    <p:sldLayoutId id="2147483733" r:id="rId35"/>
    <p:sldLayoutId id="2147483734" r:id="rId36"/>
    <p:sldLayoutId id="2147483735" r:id="rId37"/>
    <p:sldLayoutId id="2147483736" r:id="rId38"/>
    <p:sldLayoutId id="2147483737" r:id="rId39"/>
    <p:sldLayoutId id="2147483738" r:id="rId40"/>
    <p:sldLayoutId id="2147483739" r:id="rId41"/>
    <p:sldLayoutId id="2147483740" r:id="rId4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版面配置區 1">
            <a:extLst>
              <a:ext uri="{FF2B5EF4-FFF2-40B4-BE49-F238E27FC236}">
                <a16:creationId xmlns:a16="http://schemas.microsoft.com/office/drawing/2014/main" id="{6A766FE7-7657-9269-B3A6-FD9D23D760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9/23 起從預期主導轉向 TP 主導：MOVE 跳升與信用風險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6E591B18-5F09-0DDD-B3D8-4A110ACD5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美債 Vol 的定價轉變：TP 已回來，Vol 才剛開始定價</a:t>
            </a:r>
            <a:br>
              <a:rPr lang="zh-TW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</a:br>
            <a:endParaRPr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B87314B-3C1A-30FD-C7C8-2D33CE29A2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altLang="zh-TW" dirty="0">
                <a:cs typeface="Times New Roman" panose="02020603050405020304" pitchFamily="18" charset="0"/>
              </a:rPr>
              <a:t>2026.10.05</a:t>
            </a:r>
            <a:endParaRPr lang="zh-TW" altLang="en-US" dirty="0">
              <a:cs typeface="Times New Roman" panose="02020603050405020304" pitchFamily="18" charset="0"/>
            </a:endParaRP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7AB00D8-EC15-9D7E-BE3B-59F8F2ECE90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報告人：證券</a:t>
            </a:r>
            <a:r>
              <a:rPr lang="zh-TW" altLang="en-US" dirty="0">
                <a:ea typeface="微軟正黑體" panose="020B0604030504040204" pitchFamily="34" charset="-120"/>
                <a:cs typeface="Times New Roman" panose="02020603050405020304" pitchFamily="18" charset="0"/>
                <a:sym typeface="Times New Roman"/>
              </a:rPr>
              <a:t> </a:t>
            </a:r>
            <a:r>
              <a:rPr lang="en-US" altLang="zh-TW" dirty="0">
                <a:ea typeface="微軟正黑體" panose="020B0604030504040204" pitchFamily="34" charset="-120"/>
                <a:cs typeface="Times New Roman" panose="02020603050405020304" pitchFamily="18" charset="0"/>
                <a:sym typeface="Times New Roman"/>
              </a:rPr>
              <a:t>MA 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金融交易組</a:t>
            </a:r>
            <a:r>
              <a:rPr lang="en-US" altLang="zh-TW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_</a:t>
            </a: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  <a:cs typeface="Times New Roman"/>
                <a:sym typeface="Times New Roman"/>
              </a:rPr>
              <a:t>林威宇</a:t>
            </a:r>
            <a:endParaRPr lang="zh-TW" altLang="en-US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79847336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殖利率從 2 月低點上漲 135 bp，MOVE 直到 9/23 之後才從 79 跳到 110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市況背景：10Y 創新高，Vol 卻到 9 月底才反應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766560" cy="39502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493776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現況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10Y 殖利率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9/30 收 5.28%（今年最高收盤）；10/1 盤中一度 5.34%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開戰以來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2/27 低點 3.94% → 9/30 +135 bp；9 月單月 +54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MOVE（5–8 月）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平均 73（65–86），約為 2017–2025 年中位數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MOVE（9 月底）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9/22 79 → 9/30 110；3 月高點 115，2025/4 為 140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政策與事件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美伊開戰、Warsh 9 月升息、Bessent 擴大公債回購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452360" y="1783080"/>
            <a:ext cx="4297680" cy="39319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920240"/>
            <a:ext cx="3977639" cy="374903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本報告要回答的三個問題</a:t>
            </a:r>
          </a:p>
          <a:p>
            <a:pPr algn="l"/>
            <a:r>
              <a:rPr sz="16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600">
                <a:solidFill>
                  <a:srgbClr val="1F1F1F"/>
                </a:solidFill>
              </a:rPr>
              <a:t>1. 是什麼推升了殖利率：預期還是 TP？</a:t>
            </a:r>
          </a:p>
          <a:p>
            <a:pPr algn="l"/>
            <a:r>
              <a:rPr sz="1300">
                <a:solidFill>
                  <a:srgbClr val="595959"/>
                </a:solidFill>
              </a:rPr>
              <a:t>第 5–11 頁</a:t>
            </a:r>
          </a:p>
          <a:p>
            <a:pPr algn="l"/>
            <a:r>
              <a:rPr sz="16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600">
                <a:solidFill>
                  <a:srgbClr val="1F1F1F"/>
                </a:solidFill>
              </a:rPr>
              <a:t>2. 為什麼 Vol 到 9 月底才反應？</a:t>
            </a:r>
          </a:p>
          <a:p>
            <a:pPr algn="l"/>
            <a:r>
              <a:rPr sz="1300">
                <a:solidFill>
                  <a:srgbClr val="595959"/>
                </a:solidFill>
              </a:rPr>
              <a:t>第 12–14 頁</a:t>
            </a:r>
          </a:p>
          <a:p>
            <a:pPr algn="l"/>
            <a:r>
              <a:rPr sz="16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600">
                <a:solidFill>
                  <a:srgbClr val="1F1F1F"/>
                </a:solidFill>
              </a:rPr>
              <a:t>3. 現在是補漲還是失序？交易上怎麼看？</a:t>
            </a:r>
          </a:p>
          <a:p>
            <a:pPr algn="l"/>
            <a:r>
              <a:rPr sz="1300">
                <a:solidFill>
                  <a:srgbClr val="595959"/>
                </a:solidFill>
              </a:rPr>
              <a:t>第 15–16 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不是通膨預期脫錨、也不是發債推升的財政溢價；是實質利率急升（開戰以來 TIPS +123 bp）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本輪拋售的驅動：「不是什麼」vs.「是什麼」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035039" cy="2880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86000"/>
                <a:gridCol w="3749039"/>
              </a:tblGrid>
              <a:tr h="96012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不是：市場流行的說法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數據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能源衝擊使通膨預期脫錨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BEI 今年以來只 +12 bp；9 月升息後兩天 −7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政府大量發債推升財政溢價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Kim-Wright TP 5/19 86 → 6/29 68 bp，與原文「擴大回購後 TP 回落」方向一致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720840" y="1783080"/>
            <a:ext cx="5029200" cy="2880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03720" y="1874519"/>
            <a:ext cx="4709160" cy="274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是：實質利率急遽上升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開戰以來 10Y +135 bp 中，TIPS +123 bp、BEI 只 +11 bp。</a:t>
            </a:r>
          </a:p>
          <a:p>
            <a:pPr algn="l"/>
            <a:r>
              <a:rPr sz="6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400">
                <a:solidFill>
                  <a:srgbClr val="0065B2"/>
                </a:solidFill>
              </a:rPr>
              <a:t>主因一　政策利率預期上修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2Y 今年以來 3.47% → 4.79%（+132 bp）</a:t>
            </a:r>
          </a:p>
          <a:p>
            <a:pPr algn="l"/>
            <a:r>
              <a:rPr b="1" sz="1400">
                <a:solidFill>
                  <a:srgbClr val="0065B2"/>
                </a:solidFill>
              </a:rPr>
              <a:t>主因二　AI 投資競逐長期資本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而主因二又會推升主因一（第 9–11 頁）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892040"/>
            <a:ext cx="1133856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400">
                <a:solidFill>
                  <a:srgbClr val="E83F0A"/>
                </a:solidFill>
              </a:rPr>
              <a:t>延伸：</a:t>
            </a:r>
            <a:r>
              <a:rPr sz="1400">
                <a:solidFill>
                  <a:srgbClr val="1F1F1F"/>
                </a:solidFill>
              </a:rPr>
              <a:t>實質利率裡也有期限溢酬。DKW 顯示實質利率上升中近四成是實質 TP（第 8 頁），而 TP 在 6 月回落後，7 月起回升、9 月加速。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411480" y="3200400"/>
            <a:ext cx="11338560" cy="3108960"/>
          </a:xfrm>
        </p:spPr>
        <p:txBody>
          <a:bodyPr wrap="square"/>
          <a:lstStyle/>
          <a:p>
            <a:pPr>
              <a:buFont typeface="+mj-lt"/>
              <a:buAutoNum type="arabicPeriod"/>
            </a:pPr>
            <a:r>
              <a:rPr b="1" sz="1400"/>
              <a:t>9/23 是轉折點</a:t>
            </a:r>
            <a:r>
              <a:rPr sz="1400"/>
              <a:t>：9/1–9/22 短端領漲、曲線變平（2Y +41、30Y +6 bp）；9/23 起短端停住、長端大跌（2Y +4、30Y +31 bp），MOVE、TP、HY 利差同時跳升</a:t>
            </a:r>
          </a:p>
          <a:p>
            <a:pPr>
              <a:buFont typeface="+mj-lt"/>
              <a:buAutoNum type="arabicPeriod"/>
            </a:pPr>
            <a:r>
              <a:rPr b="1" sz="1400"/>
              <a:t>實質利率主導，通膨預期很小</a:t>
            </a:r>
            <a:r>
              <a:rPr sz="1400"/>
              <a:t>：今年以來 10Y +110 bp 中 TIPS +101、BEI +12；DKW 顯示實質利率上升裡近四成是實質 TP</a:t>
            </a:r>
          </a:p>
          <a:p>
            <a:pPr>
              <a:buFont typeface="+mj-lt"/>
              <a:buAutoNum type="arabicPeriod"/>
            </a:pPr>
            <a:r>
              <a:rPr b="1" sz="1400"/>
              <a:t>Vol：追上實際波動，再加上溢價</a:t>
            </a:r>
            <a:r>
              <a:rPr sz="1400"/>
              <a:t>：MOVE 9/22 → 10/2 +29，其中實際波動 +18；IV − RV +15，低於 3 月與 2025/4 的 +28～+29</a:t>
            </a:r>
          </a:p>
          <a:p>
            <a:pPr>
              <a:buFont typeface="+mj-lt"/>
              <a:buAutoNum type="arabicPeriod"/>
            </a:pPr>
            <a:r>
              <a:rPr b="1" sz="1400"/>
              <a:t>壓力先在高收益信用</a:t>
            </a:r>
            <a:r>
              <a:rPr sz="1400"/>
              <a:t>：HY OAS +52、CDX HY +43 bp，IG 只 +8 bp；HY 水準仍在歷史第 29 百分位</a:t>
            </a:r>
          </a:p>
          <a:p>
            <a:pPr>
              <a:buFont typeface="+mj-lt"/>
              <a:buAutoNum type="arabicPeriod"/>
            </a:pPr>
            <a:r>
              <a:rPr b="1" sz="1400"/>
              <a:t>AI 融資串起三個發現</a:t>
            </a:r>
            <a:r>
              <a:rPr sz="1400"/>
              <a:t>：capex 暴增推高中性利率（預期實質短率）、大量發債推高實質 TP，發行人的信用風險則是失序的可能觸發點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MOVE 跳升約六成是追上實際波動、四成是溢價擴大，屬於初期失序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摘要：9/23 起轉入 TP 主導，Vol 開始重新定價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83080"/>
            <a:ext cx="274320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92807"/>
            <a:ext cx="24688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234976"/>
                </a:solidFill>
              </a:rPr>
              <a:t>+110 bp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10Y 今年以來（TIPS +101、BEI +12）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783080"/>
            <a:ext cx="274320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892807"/>
            <a:ext cx="24688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234976"/>
                </a:solidFill>
              </a:rPr>
              <a:t>+45 bp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Kim-Wright 10Y TP 今年以來（至 9/25）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274320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892807"/>
            <a:ext cx="24688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E83F0A"/>
                </a:solidFill>
              </a:rPr>
              <a:t>+15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32888"/>
            <a:ext cx="24688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IV − RV（10/2，歷史第 86 百分位）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9720" y="1783080"/>
            <a:ext cx="256032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892807"/>
            <a:ext cx="228600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3200">
                <a:solidFill>
                  <a:srgbClr val="E83F0A"/>
                </a:solidFill>
              </a:rPr>
              <a:t>+52 bp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532888"/>
            <a:ext cx="22860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>
                <a:solidFill>
                  <a:srgbClr val="595959"/>
                </a:solidFill>
              </a:rPr>
              <a:t>HY OAS（9/22 → 10/1）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635240" y="1783080"/>
            <a:ext cx="4114800" cy="4389120"/>
          </a:xfrm>
        </p:spPr>
        <p:txBody>
          <a:bodyPr wrap="square"/>
          <a:lstStyle/>
          <a:p>
            <a:r>
              <a:rPr b="1" sz="1400"/>
              <a:t>和原文一致</a:t>
            </a:r>
          </a:p>
          <a:p>
            <a:pPr marL="0" indent="0">
              <a:buNone/>
            </a:pPr>
            <a:r>
              <a:rPr sz="1400"/>
              <a:t>開戰低點以來 10Y +135 bp，TIPS +123、BEI +11，正是原文說的「實質利率貢獻約 120 bp」。</a:t>
            </a:r>
          </a:p>
          <a:p>
            <a:r>
              <a:rPr b="1" sz="1400"/>
              <a:t>通膨預期很小</a:t>
            </a:r>
          </a:p>
          <a:p>
            <a:pPr marL="0" indent="0">
              <a:buNone/>
            </a:pPr>
            <a:r>
              <a:rPr sz="1400"/>
              <a:t>BEI 今年以來只 +12 bp；9/15 以來 −1.9 bp，上升全來自實質利率。</a:t>
            </a:r>
          </a:p>
          <a:p>
            <a:r>
              <a:rPr b="1" sz="1400"/>
              <a:t>這是第一種拆法：實質 vs. 通膨</a:t>
            </a:r>
          </a:p>
          <a:p>
            <a:pPr marL="0" indent="0">
              <a:buNone/>
            </a:pPr>
            <a:r>
              <a:rPr sz="1400"/>
              <a:t>另一種拆法是預期 vs. TP（第 6–8 頁）。兩者是不同維度：TIPS 本身也含實質 TP，所以「實質利率上升」不代表「不是 TP」。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今年以來 10Y +110 bp 中 TIPS +101、BEI +12；9 月升息後 BEI 小跌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市場口徑：10Y 上升約九成來自實質利率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兩個 Fed 研究模型：KW 拆出名目 TP；DKW 加入 TIPS，再拆出實質利率與通膨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方法：Kim-Wright 與 DKW 怎麼拆 10Y 殖利率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949440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00200"/>
                <a:gridCol w="2331720"/>
                <a:gridCol w="30175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Kim-Wright（KW）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DKW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出處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Kim &amp; Wright（2005）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D'Amico, Kim &amp; Wei（2018）；2019 年更新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用到的資料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名目公債殖利率、短率調查預測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名目公債＋TIPS 殖利率、通膨資料、短率與通膨調查預測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拆得出的成分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預期平均短率、名目 TP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預期實質短率、實質 TP、預期通膨、通膨風險溢酬、TIPS 流動性溢酬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更新頻率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日資料（FRED THREEFYTP10）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每月（Fed staff）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本報告用途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9 月以後的最新變化、交叉驗證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主軸：拆開實質利率與通膨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名目 TP 今年以來（至 8/31）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+31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+20 bp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635240" y="1783080"/>
            <a:ext cx="4114800" cy="38862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874519"/>
            <a:ext cx="3794760" cy="374903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拆解公式</a:t>
            </a:r>
          </a:p>
          <a:p>
            <a:pPr algn="l"/>
            <a:r>
              <a:rPr b="1" sz="1400">
                <a:solidFill>
                  <a:srgbClr val="0065B2"/>
                </a:solidFill>
              </a:rPr>
              <a:t>Kim-Wright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10Y 殖利率 ＝ 預期平均短率 ＋ 名目 TP</a:t>
            </a:r>
          </a:p>
          <a:p>
            <a:pPr algn="l"/>
            <a:r>
              <a:rPr sz="8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400">
                <a:solidFill>
                  <a:srgbClr val="0065B2"/>
                </a:solidFill>
              </a:rPr>
              <a:t>DKW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10Y 殖利率 ＝ 預期實質短率 ＋ 實質 TP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　　　　　＋ 預期通膨 ＋ 通膨風險溢酬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TIPS 殖利率 ＝ 預期實質短率 ＋ 實質 TP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　　　　　＋ 流動性溢酬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BEI ＝ 預期通膨 ＋ 通膨風險溢酬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　　　 − 流動性溢酬</a:t>
            </a:r>
          </a:p>
          <a:p>
            <a:pPr algn="l"/>
            <a:r>
              <a:rPr b="1" sz="1400">
                <a:solidFill>
                  <a:srgbClr val="1F1F1F"/>
                </a:solidFill>
              </a:rPr>
              <a:t>名目 TP ＝ 實質 TP ＋ 通膨風險溢酬</a:t>
            </a:r>
          </a:p>
          <a:p>
            <a:pPr algn="l"/>
            <a:r>
              <a:rPr sz="800">
                <a:solidFill>
                  <a:srgbClr val="1F1F1F"/>
                </a:solidFill>
              </a:rPr>
              <a:t/>
            </a:r>
          </a:p>
          <a:p>
            <a:pPr algn="l"/>
            <a:r>
              <a:rPr sz="1200">
                <a:solidFill>
                  <a:srgbClr val="595959"/>
                </a:solidFill>
              </a:rPr>
              <a:t>兩者都出自 Fed 的 Don Kim，並非完全獨立；紐約 Fed 的 ACM 方法不同，可做交叉驗證。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Kim-Wright 10Y TP 今年以來上升約 45 bp，多半發生在 7 月之後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拆解：預期是主力，TP 是第二大來源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35240" y="1783080"/>
          <a:ext cx="411480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43200"/>
                <a:gridCol w="13716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名目 TP（年底→8/31）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bp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CR 模型（目測）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約 +18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DKW（主軸）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+20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Kim-Wright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+31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35240" y="3611880"/>
            <a:ext cx="4114800" cy="2560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>
                <a:solidFill>
                  <a:srgbClr val="1F1F1F"/>
                </a:solidFill>
              </a:rPr>
              <a:t>三個模型都同意：預期是主力，TP 是第二大來源，而且 7 月起持續上升。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DKW 每月更新、只到 8/31；9 月以後暫用日資料的 Kim-Wright，至 9/25 已 +45 bp。</a:t>
            </a:r>
          </a:p>
          <a:p>
            <a:pPr algn="l"/>
            <a:r>
              <a:rPr b="1" sz="1400">
                <a:solidFill>
                  <a:srgbClr val="234976"/>
                </a:solidFill>
              </a:rPr>
              <a:t>TP 從 7 月起持續上升，9 月再加速。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635240" y="1783080"/>
            <a:ext cx="4114800" cy="4389120"/>
          </a:xfrm>
        </p:spPr>
        <p:txBody>
          <a:bodyPr wrap="square"/>
          <a:lstStyle/>
          <a:p>
            <a:r>
              <a:rPr b="1" sz="1400"/>
              <a:t>實質部分 +42 bp 怎麼拆</a:t>
            </a:r>
          </a:p>
          <a:p>
            <a:pPr>
              <a:buFont typeface="+mj-lt"/>
              <a:buAutoNum type="arabicPeriod"/>
            </a:pPr>
            <a:r>
              <a:rPr b="1" sz="1400"/>
              <a:t>預期實質短率 +25 bp</a:t>
            </a:r>
            <a:r>
              <a:rPr sz="1400"/>
              <a:t>：政策路徑與 r* 的預期，是主要驅動</a:t>
            </a:r>
          </a:p>
          <a:p>
            <a:pPr>
              <a:buFont typeface="+mj-lt"/>
              <a:buAutoNum type="arabicPeriod"/>
            </a:pPr>
            <a:r>
              <a:rPr b="1" sz="1400"/>
              <a:t>實質 TP +16 bp</a:t>
            </a:r>
            <a:r>
              <a:rPr sz="1400"/>
              <a:t>：約佔實質部分的 39%，TIPS 殖利率中屬於期限溢酬的部分</a:t>
            </a:r>
          </a:p>
          <a:p>
            <a:r>
              <a:rPr b="1" sz="1400"/>
              <a:t>7 月以來</a:t>
            </a:r>
          </a:p>
          <a:p>
            <a:pPr marL="0" indent="0">
              <a:buNone/>
            </a:pPr>
            <a:r>
              <a:rPr sz="1400"/>
              <a:t>6/30 → 8/31 名目 TP +15 bp，佔名目上升約四成；實質 TP（+13）大於預期實質短率（+10）。</a:t>
            </a:r>
          </a:p>
          <a:p>
            <a:r>
              <a:rPr b="1" sz="1400"/>
              <a:t>其他</a:t>
            </a:r>
          </a:p>
          <a:p>
            <a:pPr marL="0" indent="0">
              <a:buNone/>
            </a:pPr>
            <a:r>
              <a:rPr sz="1400"/>
              <a:t>通膨部分小：預期通膨 +12 bp；市場 BEI 今年以來 +12 bp，9 月升息後小跌。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10Y 今年到 8 月 +57 bp：預期實質短率 +25、實質 TP +16、預期通膨 +12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DKW：「實質利率」上升裡，近四成是實質 TP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沒有通膨壓力，卻同時推高實質短率預期與實質 TP；AI 融資對應兩條管道，再加一條信用管道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AI 融資（1/3）：為什麼是實質利率與實質 TP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11338560" cy="3474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0"/>
                <a:gridCol w="4206240"/>
                <a:gridCol w="3566160"/>
                <a:gridCol w="2194560"/>
              </a:tblGrid>
              <a:tr h="8686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管道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機制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對應數據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驗證狀態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① r* 管道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capex 暴增 → 投資需求上升 → 中性利率上移 → 預期實質短率上升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DKW 預期實質短率 +25 bp（今年至 8/31）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形狀吻合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② 供給管道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capex 超過內部現金流 → 大量發債 → 長天期公司債與美債搶同一批 duration 買家 → 實質 TP 上升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DKW 實質 TP +16 bp；2026 年 capex 約 9,170 億美元，約等於 8 家公司現有債務＋租賃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待驗證：發債時程 vs TP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③ 信用管道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發行人槓桿上升 → 信用利差擴大 → TP 衝擊再疊加信用衝擊，成為失序的觸發點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9/23 起 HY OAS +52 bp；Oracle BBB−、5Y CDS 227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待驗證：AI 發行人 CDS 走勢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5349240"/>
            <a:ext cx="11338560" cy="9144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394960"/>
            <a:ext cx="1106424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300">
                <a:solidFill>
                  <a:srgbClr val="E83F0A"/>
                </a:solidFill>
              </a:rPr>
              <a:t>待補數據：</a:t>
            </a:r>
            <a:r>
              <a:rPr sz="1300">
                <a:solidFill>
                  <a:srgbClr val="1F1F1F"/>
                </a:solidFill>
              </a:rPr>
              <a:t>① hyperscaler 每月發債量 vs Kim-Wright TP　② Oracle、Meta 等 5Y CDS 相對 CDX IG，是否在 7 月後與 TP 同步走高。</a:t>
            </a:r>
          </a:p>
          <a:p>
            <a:pPr algn="l"/>
            <a:r>
              <a:rPr sz="1300">
                <a:solidFill>
                  <a:srgbClr val="595959"/>
                </a:solidFill>
              </a:rPr>
              <a:t>若兩者都不同步，AI 融資應降級為風險因子，而非 TP 的推手。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086600" y="1783080"/>
            <a:ext cx="4663440" cy="4389120"/>
          </a:xfrm>
        </p:spPr>
        <p:txBody>
          <a:bodyPr wrap="square"/>
          <a:lstStyle/>
          <a:p>
            <a:r>
              <a:rPr b="1" sz="1500"/>
              <a:t>這一頁對應供給管道（第 9 頁 ②）</a:t>
            </a:r>
          </a:p>
          <a:p>
            <a:pPr>
              <a:buFont typeface="+mj-lt"/>
              <a:buAutoNum type="arabicPeriod"/>
            </a:pPr>
            <a:r>
              <a:rPr b="1" sz="1500"/>
              <a:t>規模</a:t>
            </a:r>
            <a:r>
              <a:rPr sz="1500"/>
              <a:t>：2026 年 capex 約 9,170 億美元，約等於 8 家公司現有債務＋租賃</a:t>
            </a:r>
          </a:p>
          <a:p>
            <a:pPr>
              <a:buFont typeface="+mj-lt"/>
              <a:buAutoNum type="arabicPeriod"/>
            </a:pPr>
            <a:r>
              <a:rPr b="1" sz="1500"/>
              <a:t>融資缺口</a:t>
            </a:r>
            <a:r>
              <a:rPr sz="1500"/>
              <a:t>：capex 超過內部現金流的部分靠發債，長天期公司債與美債競爭同一批 duration 買家</a:t>
            </a:r>
          </a:p>
          <a:p>
            <a:r>
              <a:rPr b="1" sz="1500"/>
              <a:t>時間點</a:t>
            </a:r>
          </a:p>
          <a:p>
            <a:pPr marL="0" indent="0">
              <a:buNone/>
            </a:pPr>
            <a:r>
              <a:rPr sz="1500"/>
              <a:t>capex 增速 2026–27 年最高，AI 融資對長端的壓力可能在這兩年最大（深藍為高峰期）。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Hyperscaler capex 2026 年約 9,170 億美元，年增 99%；增速 2028 年降至 12%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AI 融資（2/3）：Capex 規模推升長端資本需求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40080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360920" y="1783080"/>
            <a:ext cx="4389120" cy="4389120"/>
          </a:xfrm>
        </p:spPr>
        <p:txBody>
          <a:bodyPr wrap="square"/>
          <a:lstStyle/>
          <a:p>
            <a:pPr>
              <a:buFont typeface="+mj-lt"/>
              <a:buAutoNum type="arabicPeriod"/>
            </a:pPr>
            <a:r>
              <a:rPr b="1" sz="1400"/>
              <a:t>規模</a:t>
            </a:r>
            <a:r>
              <a:rPr sz="1400"/>
              <a:t>：一年 capex 約等於現有全部債務；兩份資料的公司名單不完全相同，只能當量級比較</a:t>
            </a:r>
          </a:p>
          <a:p>
            <a:pPr>
              <a:buFont typeface="+mj-lt"/>
              <a:buAutoNum type="arabicPeriod"/>
            </a:pPr>
            <a:r>
              <a:rPr b="1" sz="1400"/>
              <a:t>CDS 與評等脫鉤</a:t>
            </a:r>
            <a:r>
              <a:rPr sz="1400"/>
              <a:t>：Meta、Nvidia、Amazon、Alphabet 的 CDS 以其評等偏高；建議以同日 CDX IG 5Y 為基準比較</a:t>
            </a:r>
          </a:p>
          <a:p>
            <a:pPr>
              <a:buFont typeface="+mj-lt"/>
              <a:buAutoNum type="arabicPeriod"/>
            </a:pPr>
            <a:r>
              <a:rPr b="1" sz="1400"/>
              <a:t>Oracle 是弱點</a:t>
            </a:r>
            <a:r>
              <a:rPr sz="1400"/>
              <a:t>：投資級最後一階，CDS 已接近高收益債定價</a:t>
            </a:r>
          </a:p>
          <a:p>
            <a:pPr>
              <a:buFont typeface="+mj-lt"/>
              <a:buAutoNum type="arabicPeriod"/>
            </a:pPr>
            <a:r>
              <a:rPr b="1" sz="1400"/>
              <a:t>口徑提醒</a:t>
            </a:r>
            <a:r>
              <a:rPr sz="1400"/>
              <a:t>：Microsoft 885 億「有擔保」部分不像一般公司債，較像資料中心融資租賃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8 家主要公司債務＋租賃約 9,250 億美元，與一年 capex 相當；多家 CDS 以評等而言偏高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AI 融資（3/3）：信用市場已在替 AI 風險定價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67512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80160"/>
                <a:gridCol w="1828800"/>
                <a:gridCol w="1188720"/>
                <a:gridCol w="1280160"/>
                <a:gridCol w="10972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公司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債務＋租賃（十億美元）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有擔保佔比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5Y CDS（bp）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評等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Oracle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170.9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26%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227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BBB−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Meta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112.7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25%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95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AA−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Nvidia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39.0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14%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Amazon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252.4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43%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73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Alphabet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122.2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AA+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Microsoft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134.5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66%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52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AAA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CoreWeave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52.2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68%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SpaceX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41.0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36%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BBB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9/22 以前曲線變平（預期主導）；9/23 起曲線變陡，MOVE +30、HY +52 bp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9/23 起轉入 TP 主導：短端停住、長端大跌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76656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52360" y="1783080"/>
          <a:ext cx="4297680" cy="307238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1234440"/>
                <a:gridCol w="12344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變動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第一階段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第二階段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2s10s (bp)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−20.1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+24.2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5s30s (bp)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−27.9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+13.9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10Y BEI (bp)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+0.4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+3.7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MOVE（點）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+3.2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+29.6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Kim-Wright TP (bp)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+5.4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+8.6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HY OAS (bp)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+52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CDX HY (bp)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+0.5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+43.2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52360" y="4983480"/>
            <a:ext cx="429768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300">
                <a:solidFill>
                  <a:srgbClr val="234976"/>
                </a:solidFill>
              </a:rPr>
              <a:t>第二階段的組合（短端停、長端漲、Vol 與高收益利差同步跳升）正是原文預告的 regime change。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7635240" y="3840480"/>
            <a:ext cx="4114800" cy="2377440"/>
          </a:xfrm>
        </p:spPr>
        <p:txBody>
          <a:bodyPr wrap="square"/>
          <a:lstStyle/>
          <a:p>
            <a:pPr>
              <a:buFont typeface="+mj-lt"/>
              <a:buAutoNum type="arabicPeriod"/>
            </a:pPr>
            <a:r>
              <a:rPr b="1" sz="1200"/>
              <a:t>主要是補漲</a:t>
            </a:r>
            <a:r>
              <a:rPr sz="1200"/>
              <a:t>：實際波動從 74 升到 92；9/23 以來 8 天年化約 105，與 MOVE 相當</a:t>
            </a:r>
          </a:p>
          <a:p>
            <a:pPr>
              <a:buFont typeface="+mj-lt"/>
              <a:buAutoNum type="arabicPeriod"/>
            </a:pPr>
            <a:r>
              <a:rPr b="1" sz="1200"/>
              <a:t>溢價也在擴大</a:t>
            </a:r>
            <a:r>
              <a:rPr sz="1200"/>
              <a:t>：IV − RV +15，高於歷史平均（約 0），但低於兩次衝擊的 +28～+29</a:t>
            </a:r>
          </a:p>
          <a:p>
            <a:pPr>
              <a:buFont typeface="+mj-lt"/>
              <a:buAutoNum type="arabicPeriod"/>
            </a:pPr>
            <a:r>
              <a:rPr b="1" sz="1200"/>
              <a:t>9 月上旬的 MOVE 偏便宜</a:t>
            </a:r>
            <a:r>
              <a:rPr sz="1200"/>
              <a:t>：事後看，之後的實際波動比它高約 18 bp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9/22 → 10/2 MOVE +28.7：實際波動 +17.8（約 62%）、IV − RV +11.0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Vol：MOVE 追上實際波動，溢價擴大到第 86 百分位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694944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35240" y="1783080"/>
          <a:ext cx="4114800" cy="1920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0"/>
                <a:gridCol w="685800"/>
                <a:gridCol w="594360"/>
                <a:gridCol w="777240"/>
                <a:gridCol w="6858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時點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MOVE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RV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IV−RV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百分位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2025/4 關稅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140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2026/3 開戰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115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87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+28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95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9/22 轉折前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79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+4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10/2 最新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107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92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+15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E83F0A"/>
                          </a:solidFill>
                        </a:rPr>
                        <a:t>86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選擇權買方主要願意為 TP 衝擊付風險補償；利率由政策預期主導時，VRP 反而萎縮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框架：VRP 擴張的條件是 TP 失序，不只是 TP 上升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6949440" cy="3840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54480"/>
                <a:gridCol w="2697480"/>
                <a:gridCol w="26974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面向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預期主導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TP 主導（失序）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驅動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總經數據＋央行 Reaction Function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財政、供給、流動性、持有者結構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避險工具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線性：SOFR / FF Futures、OIS、T-Bills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非線性：Deep OTM Payer Swaptions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買方價格敏感度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極低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分佈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均值回歸、有邊界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自我強化、肥尾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主要參與者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宏觀 HF、RV 基金、量化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Pension、Lifers、Sovereign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VRP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萎縮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擴張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635240" y="1783080"/>
            <a:ext cx="4114800" cy="35661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920240"/>
            <a:ext cx="3794760" cy="36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延伸：失序才是關鍵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7–8 月 TP 有序上升，IV 沒有跟上；真正推高 VRP 的是失序特徵：做市商受限、Repo Haircut 加大、保證金追繳引發拋售循環。</a:t>
            </a:r>
          </a:p>
          <a:p>
            <a:pPr algn="l"/>
            <a:r>
              <a:rPr sz="800">
                <a:solidFill>
                  <a:srgbClr val="1F1F1F"/>
                </a:solidFill>
              </a:rPr>
              <a:t/>
            </a:r>
          </a:p>
          <a:p>
            <a:pPr algn="l"/>
            <a:r>
              <a:rPr b="1" sz="1800">
                <a:solidFill>
                  <a:srgbClr val="E83F0A"/>
                </a:solidFill>
              </a:rPr>
              <a:t>數據顯示：初期失序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9/23 起 TP 加速、HY 利差 +52 bp，IV − RV 才從 +4 擴大到 +15；MOVE 跳升約六成來自實際波動上升。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2" sz="half"/>
          </p:nvPr>
        </p:nvSpPr>
        <p:spPr>
          <a:xfrm>
            <a:off x="6355080" y="1737360"/>
            <a:ext cx="5394960" cy="4480560"/>
          </a:xfrm>
        </p:spPr>
        <p:txBody>
          <a:bodyPr wrap="square"/>
          <a:lstStyle/>
          <a:p>
            <a:r>
              <a:rPr b="1" sz="1200"/>
              <a:t>股市：AI 敘事只撐住 Mag 7</a:t>
            </a:r>
          </a:p>
          <a:p>
            <a:pPr marL="0" indent="0">
              <a:buNone/>
            </a:pPr>
            <a:r>
              <a:rPr sz="1200"/>
              <a:t>對利率敏感的小型股、等權重指數已在跌；SOX 跌最多，市場開始擔心 AI 融資成本或報酬。</a:t>
            </a:r>
          </a:p>
          <a:p>
            <a:r>
              <a:rPr b="1" sz="1200"/>
              <a:t>信用：高收益先反應</a:t>
            </a:r>
          </a:p>
          <a:p>
            <a:pPr marL="0" indent="0">
              <a:buNone/>
            </a:pPr>
            <a:r>
              <a:rPr sz="1200"/>
              <a:t>9/23 起 HY OAS +52、CDX HY +43 bp，IG 只 +8 bp；HY 318 bp 仍低於 3/30 的 335 與 2025/4 的 453。</a:t>
            </a:r>
          </a:p>
          <a:p>
            <a:r>
              <a:rPr b="1" sz="1200"/>
              <a:t>去槓桿：風險低於 2025/4</a:t>
            </a:r>
          </a:p>
          <a:p>
            <a:pPr marL="0" indent="0">
              <a:buNone/>
            </a:pPr>
            <a:r>
              <a:rPr sz="1200"/>
              <a:t>eSLR 放寬後 Basis Trade 部位逐漸移往 G-SIBs，Repo 市場較不脆弱（尚缺部位數據）。</a:t>
            </a:r>
          </a:p>
          <a:p>
            <a:r>
              <a:rPr b="1" sz="1200"/>
              <a:t>可能把有序推向失序的觸發點</a:t>
            </a:r>
          </a:p>
          <a:p>
            <a:pPr>
              <a:buFont typeface="+mj-lt"/>
              <a:buAutoNum type="arabicPeriod"/>
            </a:pPr>
            <a:r>
              <a:rPr b="1" sz="1200"/>
              <a:t>Oracle 降至高收益級</a:t>
            </a:r>
            <a:r>
              <a:rPr sz="1200"/>
              <a:t>：被迫賣出、信用利差跳升（AI 融資的信用管道，第 9 頁）</a:t>
            </a:r>
          </a:p>
          <a:p>
            <a:pPr>
              <a:buFont typeface="+mj-lt"/>
              <a:buAutoNum type="arabicPeriod"/>
            </a:pPr>
            <a:r>
              <a:rPr b="1" sz="1200"/>
              <a:t>AI 投資報酬受質疑</a:t>
            </a:r>
            <a:r>
              <a:rPr sz="1200"/>
              <a:t>：AI 發行人利差擴大，拖累 Mag 7 與長端供需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MOVE 上升反映長端 Buy Side 加碼避險；去槓桿風險低於 2025/4，壓力先到信用市場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風險意涵：指數穩、廣度弱、信用先承壓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737360"/>
          <a:ext cx="566928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IV − RV 擴大、高收益利差跳升，但還沒到 3 月或 2025/4 的極端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情境：目前處於「初期失序」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11338560" cy="3657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7360"/>
                <a:gridCol w="3017520"/>
                <a:gridCol w="3383280"/>
                <a:gridCol w="3200400"/>
              </a:tblGrid>
              <a:tr h="9144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情境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判斷依據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目前讀數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交易意涵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A：全面失序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− RV 續擴大、Payer Skew 變陡、信用利差續寬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− RV +15（衝擊時 +28～+29）；HY 318 bp（2025/4 為 453）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偏貴但肥尾風險是真的；等失序緩解再評估賣 Vol，並用價差限損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B：單純補漲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IV 只是追上 RV、Skew 平穩、信用不再擴大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MOVE 上升約 62% 來自實際波動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1F1F1F"/>
                          </a:solidFill>
                        </a:rPr>
                        <a:t>賣 Vol 的機會還沒到；繼續追蹤 TP 速度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b="1" sz="1300">
                          <a:solidFill>
                            <a:srgbClr val="1F1F1F"/>
                          </a:solidFill>
                        </a:rPr>
                        <a:t>目前：初期失序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介於 A 與 B 之間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9/23 起 TP +8.6 bp（3 天）、2s10s +24 bp、HY +52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E83F0A"/>
                          </a:solidFill>
                        </a:rPr>
                        <a:t>不急著賣 Vol；TP 主導期有利 bear steepener；BEI 仍是便宜的戰事保險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532120"/>
            <a:ext cx="1133856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400">
                <a:solidFill>
                  <a:srgbClr val="E83F0A"/>
                </a:solidFill>
              </a:rPr>
              <a:t>升級成 A 的訊號：</a:t>
            </a:r>
            <a:r>
              <a:rPr sz="1400">
                <a:solidFill>
                  <a:srgbClr val="1F1F1F"/>
                </a:solidFill>
              </a:rPr>
              <a:t>IV − RV 超過 +20、HY OAS 突破 335（3 月高點）、Kim-Wright TP 持續加速、AI 發行人 CDS 相對 CDX IG 走寬。</a:t>
            </a:r>
            <a:r>
              <a:rPr b="1" sz="1400">
                <a:solidFill>
                  <a:srgbClr val="234976"/>
                </a:solidFill>
              </a:rPr>
              <a:t>　回到預期主導的訊號：</a:t>
            </a:r>
            <a:r>
              <a:rPr sz="1400">
                <a:solidFill>
                  <a:srgbClr val="1F1F1F"/>
                </a:solidFill>
              </a:rPr>
              <a:t>2Y 重新領漲、曲線再度變平。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追蹤 TP 的速度、IV − RV、Payer Skew 與信用利差，判斷初期失序會不會升級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觀察指標與資料限制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783080"/>
          <a:ext cx="7589520" cy="409651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8720"/>
                <a:gridCol w="2286000"/>
                <a:gridCol w="2377440"/>
                <a:gridCol w="173736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觀察面向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最新讀數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要看什麼</a:t>
                      </a:r>
                    </a:p>
                  </a:txBody>
                  <a:tcPr marL="73152" marR="73152" marT="27432" marB="27432" anchor="ctr">
                    <a:solidFill>
                      <a:srgbClr val="234976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TP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DKW（主）、Kim-Wright、ACM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Kim-Wright 102 bp（9/25）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上升速度是否加快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政策路徑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2Y、SOFR Futures / OIS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2s10s 45 bp（10/1）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2Y 是否重新領漲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Vol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MOVE、IV − RV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MOVE 107、IV − RV +15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是否超過 +20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右尾避險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Payer Swaption Skew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尚無資料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是否變陡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信用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HY / IG OAS、CDX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HY 318、IG 83、CDX IG 60 bp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HY 是否突破 335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融資壓力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SOFR − IORB、Swap Spread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尚無資料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是否出現壓力</a:t>
                      </a:r>
                    </a:p>
                  </a:txBody>
                  <a:tcPr marL="73152" marR="73152" marT="27432" marB="27432" anchor="ctr">
                    <a:solidFill>
                      <a:srgbClr val="EEF3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1F1F1F"/>
                          </a:solidFill>
                        </a:rPr>
                        <a:t>股市廣度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Russell 2000、等權重 S&amp;P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9/1–9/16 落後大盤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F1F1F"/>
                          </a:solidFill>
                        </a:rPr>
                        <a:t>是否持續落後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8229600" y="1783080"/>
            <a:ext cx="3520440" cy="411480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920240"/>
            <a:ext cx="3200400" cy="3931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800">
                <a:solidFill>
                  <a:srgbClr val="234976"/>
                </a:solidFill>
              </a:rPr>
              <a:t>資料限制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美伊開戰、Warsh 升息、Bessent 擴大回購等事件來自市況觀察原文。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市場資料至 10/2；只有收盤價，無盤中值。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無 Swaption 與 Payer Skew 資料，IV 以 MOVE 代替。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TP 為模型估計值，各模型常差 10–20 bp；DKW 只到 8/31。</a:t>
            </a:r>
          </a:p>
          <a:p>
            <a:pPr algn="l"/>
            <a:r>
              <a:rPr sz="1200">
                <a:solidFill>
                  <a:srgbClr val="1F1F1F"/>
                </a:solidFill>
              </a:rPr>
              <a:t>• CDS 表只有單一時點；「債務」可能含租賃。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利率變動由政策預期主導時，選擇權買方不願多付保險費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192024"/>
            <a:ext cx="11329416" cy="548640"/>
          </a:xfrm>
        </p:spPr>
        <p:txBody>
          <a:bodyPr/>
          <a:lstStyle/>
          <a:p>
            <a:r>
              <a:t>附錄：框架基礎——預期主導時 VRP 萎縮的四個機制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8308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892807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① 避險工具的替代性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預期衝擊可用 SOFR / FF Futures、OIS、T-Bills 精準對沖 DV01，不必買選擇權；TP 衝擊伴隨做市商受限、Repo Haircut 加大，只能買 Deep OTM Payer，需求對價格不敏感。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78308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892807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② RV 擠壓 IV − RV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預期主導期數據公布常見跳空，RV 飆升、Short Gamma 損耗加大；IV 被 r*、Taylor Rule 錨定，加上 HF 系統性賣 Vol，VRP 縮水、Sell Vol Flow 退場。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79476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904488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③ 分佈特徵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預期衝擊會均值回歸：升息到一定高度，市場自行定價經濟降溫。TP 衝擊沒有天然煞車，保證金追繳 → 拋售 → 波動上升 → VaR 觸發 → 再拋售。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3794760"/>
            <a:ext cx="548640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3904488"/>
            <a:ext cx="5120640" cy="1600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sz="1700">
                <a:solidFill>
                  <a:srgbClr val="234976"/>
                </a:solidFill>
              </a:rPr>
              <a:t>④ 交易者結構</a:t>
            </a:r>
          </a:p>
          <a:p>
            <a:pPr algn="l"/>
            <a:r>
              <a:rPr sz="1400">
                <a:solidFill>
                  <a:srgbClr val="1F1F1F"/>
                </a:solidFill>
              </a:rPr>
              <a:t>預期主導時以宏觀 HF、RV 基金、量化為主，IV 稍貴就賣；TP 主導時買方多受資本適足率、償付能力或 ALM 約束，重合規而非獲利，願接受更高 VRP。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3063642"/>
      </p:ext>
    </p:extLst>
  </p:cSld>
  <p:clrMapOvr>
    <a:masterClrMapping/>
  </p:clrMapOvr>
</p:sld>
</file>

<file path=ppt/theme/theme1.xml><?xml version="1.0" encoding="utf-8"?>
<a:theme xmlns:a="http://schemas.openxmlformats.org/drawingml/2006/main" name="佈景主題3">
  <a:themeElements>
    <a:clrScheme name="品牌顏色v4">
      <a:dk1>
        <a:srgbClr val="000000"/>
      </a:dk1>
      <a:lt1>
        <a:srgbClr val="FFFFFF"/>
      </a:lt1>
      <a:dk2>
        <a:srgbClr val="234976"/>
      </a:dk2>
      <a:lt2>
        <a:srgbClr val="FFFAF6"/>
      </a:lt2>
      <a:accent1>
        <a:srgbClr val="0065B2"/>
      </a:accent1>
      <a:accent2>
        <a:srgbClr val="FFAF78"/>
      </a:accent2>
      <a:accent3>
        <a:srgbClr val="E83F0A"/>
      </a:accent3>
      <a:accent4>
        <a:srgbClr val="A36C14"/>
      </a:accent4>
      <a:accent5>
        <a:srgbClr val="4DB848"/>
      </a:accent5>
      <a:accent6>
        <a:srgbClr val="713C93"/>
      </a:accent6>
      <a:hlink>
        <a:srgbClr val="2DB7FF"/>
      </a:hlink>
      <a:folHlink>
        <a:srgbClr val="954F72"/>
      </a:folHlink>
    </a:clrScheme>
    <a:fontScheme name="KGI">
      <a:majorFont>
        <a:latin typeface="Calibri"/>
        <a:ea typeface="微軟正黑體"/>
        <a:cs typeface=""/>
      </a:majorFont>
      <a:minorFont>
        <a:latin typeface="Calibri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佈景主題3" id="{99230912-EC4A-D44D-8896-138DCE89FCDF}" vid="{1C06976D-9AC1-B042-81C6-58295AD82A43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21360C6CCFF5A42BE2217CAE4812773" ma:contentTypeVersion="17" ma:contentTypeDescription="Create a new document." ma:contentTypeScope="" ma:versionID="106305f8038346a9e7b20d6b55fd290f">
  <xsd:schema xmlns:xsd="http://www.w3.org/2001/XMLSchema" xmlns:xs="http://www.w3.org/2001/XMLSchema" xmlns:p="http://schemas.microsoft.com/office/2006/metadata/properties" xmlns:ns3="f037563e-43bd-494c-b488-a46eea011db2" xmlns:ns4="77fc565e-dc3a-4332-ae64-7f55681cb985" targetNamespace="http://schemas.microsoft.com/office/2006/metadata/properties" ma:root="true" ma:fieldsID="4aaa86d2de3b3f99602aea57602a7955" ns3:_="" ns4:_="">
    <xsd:import namespace="f037563e-43bd-494c-b488-a46eea011db2"/>
    <xsd:import namespace="77fc565e-dc3a-4332-ae64-7f55681cb985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DateTaken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  <xsd:element ref="ns4:_activity" minOccurs="0"/>
                <xsd:element ref="ns4:MediaServiceObjectDetectorVersions" minOccurs="0"/>
                <xsd:element ref="ns4:MediaLengthInSecond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37563e-43bd-494c-b488-a46eea011db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fc565e-dc3a-4332-ae64-7f55681cb98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7fc565e-dc3a-4332-ae64-7f55681cb985" xsi:nil="true"/>
  </documentManagement>
</p:properties>
</file>

<file path=customXml/itemProps1.xml><?xml version="1.0" encoding="utf-8"?>
<ds:datastoreItem xmlns:ds="http://schemas.openxmlformats.org/officeDocument/2006/customXml" ds:itemID="{76461243-F3F5-4F11-8731-E8F807F1525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3CBE13B-F6A0-4C91-898A-0F7F56A9698E}">
  <ds:schemaRefs>
    <ds:schemaRef ds:uri="77fc565e-dc3a-4332-ae64-7f55681cb985"/>
    <ds:schemaRef ds:uri="f037563e-43bd-494c-b488-a46eea011db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E849499-8924-4217-B474-9C125CE23669}">
  <ds:schemaRefs>
    <ds:schemaRef ds:uri="http://schemas.microsoft.com/office/2006/documentManagement/types"/>
    <ds:schemaRef ds:uri="http://www.w3.org/XML/1998/namespace"/>
    <ds:schemaRef ds:uri="http://purl.org/dc/dcmitype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7fc565e-dc3a-4332-ae64-7f55681cb985"/>
    <ds:schemaRef ds:uri="f037563e-43bd-494c-b488-a46eea011db2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證券_藍_簡報模板（Final）</Template>
  <TotalTime>93064</TotalTime>
  <Words>682</Words>
  <Application>Microsoft Office PowerPoint</Application>
  <PresentationFormat>寬螢幕</PresentationFormat>
  <Paragraphs>43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5" baseType="lpstr">
      <vt:lpstr>思源黑體</vt:lpstr>
      <vt:lpstr>微軟正黑體</vt:lpstr>
      <vt:lpstr>Arial</vt:lpstr>
      <vt:lpstr>Calibri</vt:lpstr>
      <vt:lpstr>Montserrat</vt:lpstr>
      <vt:lpstr>Symbol</vt:lpstr>
      <vt:lpstr>Times New Roman</vt:lpstr>
      <vt:lpstr>Wingdings</vt:lpstr>
      <vt:lpstr>佈景主題3</vt:lpstr>
      <vt:lpstr>基於多模型共識記憶遞延機制之 全球多資產新聞驅動 AI Agent</vt:lpstr>
      <vt:lpstr>PowerPoint 簡報</vt:lpstr>
      <vt:lpstr>全球資產行情與即時新聞的資料處理、智能分析與自動推播</vt:lpstr>
      <vt:lpstr>PowerPoint 簡報</vt:lpstr>
      <vt:lpstr>PowerPoint 簡報</vt:lpstr>
      <vt:lpstr>PowerPoint 簡報</vt:lpstr>
    </vt:vector>
  </TitlesOfParts>
  <Company>KGI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林佳蓁JoyceLin-PR-KGISEC</dc:creator>
  <cp:lastModifiedBy>彥庭 李</cp:lastModifiedBy>
  <cp:revision>177</cp:revision>
  <cp:lastPrinted>2026-04-24T06:52:18Z</cp:lastPrinted>
  <dcterms:created xsi:type="dcterms:W3CDTF">2025-04-01T01:37:12Z</dcterms:created>
  <dcterms:modified xsi:type="dcterms:W3CDTF">2026-04-25T11:02:09Z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0x010100621360C6CCFF5A42BE2217CAE4812773</vt:lpwstr>
  </property>
</Properties>
</file>